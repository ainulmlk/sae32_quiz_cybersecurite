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1" d="100"/>
          <a:sy n="91" d="100"/>
        </p:scale>
        <p:origin x="341"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01828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du projet SAÉ 3.02 : un système de quizz sur l’hygiène informatique et la cybersécurité. Nous expliquons d’abord ce que nous avons compris du sujet, puis comment nous présenterons les choses sur le site web et dans l’application Java, puis le squelette Java en UML et la répartition du travail.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chose demandée : ce que nous avons compris du sujet. Trois parties : une base de données qui stocke questions et réponses, une application Java pour gérer les questions et faire passer le quizz, un site web pour jouer et publier le JSON. L’application Java peut aussi récupérer les JSON des autres sites pour enrichir sa base. Les six thèmes du quizz sont ceux listés en bas.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site web et l’application Java lisent et écrivent dans la même base de données. Le site publie les questions au format JSON à l’adresse /export, que les applications Java des autres groupes peuvent récupérer. Réciproquement, notre application Java va chercher le JSON des autres sites pour ajouter leurs questions à notre base. Le format d’échange est au minimum { "quizz": [ question* ]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chose demandée : comment nous présenterons les choses sur le web. La solution évidente : afficher la question avec ses différentes réponses sous forme de cases à cocher. Quand le joueur clique sur « C’est mon dernier mot », on lui affiche s’il a juste ou faux, puis on passe à la question suivante et on affiche le score à la fin.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Même question pour l’application Java : comment présenter les choses. Quatre écrans : la gestion (liste, créer, modifier, supprimer), le formulaire d’une question, l’écran de jeu qui reprend le même déroulement que le site, et l’écran d’import des questions des autres sites.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Diagramme de classes UML du squelette. Trois classes de données : Quizz contient des Question, et chaque Question possède ses Reponse ; leurs attributs reprennent les champs du JSON imposé par le sujet. BaseQuestions gère la base de données (créer, lire, modifier, supprimer) et ImportJSON exporte un quizz en JSON ou importe celui d’un autre site.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67360"/>
          </a:xfrm>
          <a:prstGeom prst="rect">
            <a:avLst/>
          </a:prstGeom>
          <a:noFill/>
          <a:ln/>
        </p:spPr>
        <p:txBody>
          <a:bodyPr wrap="square" lIns="0" tIns="0" rIns="0" bIns="0" rtlCol="0" anchor="t"/>
          <a:lstStyle>
            <a:lvl1pPr marL="0" indent="0" algn="l">
              <a:lnSpc>
                <a:spcPct val="115000"/>
              </a:lnSpc>
              <a:buNone/>
              <a:defRPr lang="en-US" sz="3200" dirty="0">
                <a:solidFill>
                  <a:srgbClr val="0F1B2D"/>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84960"/>
            <a:ext cx="10566400" cy="4460240"/>
          </a:xfrm>
          <a:prstGeom prst="rect">
            <a:avLst/>
          </a:prstGeom>
          <a:noFill/>
          <a:ln/>
        </p:spPr>
        <p:txBody>
          <a:bodyPr wrap="square" lIns="0" tIns="0" rIns="0" bIns="0" rtlCol="0" anchor="t"/>
          <a:lstStyle>
            <a:lvl1pPr marL="0" indent="0" algn="l">
              <a:lnSpc>
                <a:spcPct val="140000"/>
              </a:lnSpc>
              <a:buNone/>
              <a:defRPr lang="en-US" sz="1600" dirty="0">
                <a:solidFill>
                  <a:srgbClr val="0F1B2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67360"/>
          </a:xfrm>
          <a:prstGeom prst="rect">
            <a:avLst/>
          </a:prstGeom>
          <a:noFill/>
          <a:ln/>
        </p:spPr>
        <p:txBody>
          <a:bodyPr wrap="square" lIns="0" tIns="0" rIns="0" bIns="0" rtlCol="0" anchor="t"/>
          <a:lstStyle>
            <a:lvl1pPr marL="0" indent="0" algn="l">
              <a:lnSpc>
                <a:spcPct val="115000"/>
              </a:lnSpc>
              <a:buNone/>
              <a:defRPr lang="en-US" sz="3200" dirty="0">
                <a:solidFill>
                  <a:srgbClr val="0F1B2D"/>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84960"/>
            <a:ext cx="10566400" cy="4460240"/>
          </a:xfrm>
          <a:prstGeom prst="rect">
            <a:avLst/>
          </a:prstGeom>
          <a:noFill/>
          <a:ln/>
        </p:spPr>
        <p:txBody>
          <a:bodyPr wrap="square" lIns="0" tIns="0" rIns="0" bIns="0" rtlCol="0" anchor="t"/>
          <a:lstStyle>
            <a:lvl1pPr marL="0" indent="0" algn="l">
              <a:lnSpc>
                <a:spcPct val="140000"/>
              </a:lnSpc>
              <a:buNone/>
              <a:defRPr lang="en-US" sz="1600" dirty="0">
                <a:solidFill>
                  <a:srgbClr val="0F1B2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pic>
        <p:nvPicPr>
          <p:cNvPr id="2" name="Image 0" descr="Lock"/>
          <p:cNvPicPr>
            <a:picLocks noChangeAspect="1"/>
          </p:cNvPicPr>
          <p:nvPr/>
        </p:nvPicPr>
        <p:blipFill>
          <a:blip r:embed="rId3"/>
          <a:srcRect/>
          <a:stretch/>
        </p:blipFill>
        <p:spPr>
          <a:xfrm>
            <a:off x="9982200" y="812800"/>
            <a:ext cx="1397000" cy="1397000"/>
          </a:xfrm>
          <a:prstGeom prst="rect">
            <a:avLst/>
          </a:prstGeom>
        </p:spPr>
      </p:pic>
      <p:sp>
        <p:nvSpPr>
          <p:cNvPr id="3" name="Text 0"/>
          <p:cNvSpPr/>
          <p:nvPr/>
        </p:nvSpPr>
        <p:spPr>
          <a:xfrm>
            <a:off x="812800" y="352552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4FD6C4"/>
                </a:solidFill>
                <a:latin typeface="JetBrains Mono" pitchFamily="49" charset="0"/>
                <a:ea typeface="JetBrains Mono" pitchFamily="49" charset="-122"/>
                <a:cs typeface="JetBrains Mono" pitchFamily="49" charset="-120"/>
              </a:rPr>
              <a:t>SAÉ 3.02 · DÉVELOPPER DES APPLICATIONS COMMUNICANTES</a:t>
            </a:r>
            <a:endParaRPr lang="en-US" sz="1400" dirty="0"/>
          </a:p>
        </p:txBody>
      </p:sp>
      <p:sp>
        <p:nvSpPr>
          <p:cNvPr id="4" name="Text 1"/>
          <p:cNvSpPr>
            <a:spLocks noGrp="1"/>
          </p:cNvSpPr>
          <p:nvPr>
            <p:ph type="title"/>
          </p:nvPr>
        </p:nvSpPr>
        <p:spPr>
          <a:xfrm>
            <a:off x="812800" y="3977640"/>
            <a:ext cx="10883392" cy="136652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6F5F0"/>
                </a:solidFill>
                <a:latin typeface="IBM Plex Sans" pitchFamily="34" charset="0"/>
                <a:ea typeface="IBM Plex Sans" pitchFamily="34" charset="-122"/>
                <a:cs typeface="IBM Plex Sans" pitchFamily="34" charset="-120"/>
              </a:rPr>
              <a:t>Quizz d’hygiène informatique et de cybersécurité</a:t>
            </a:r>
            <a:endParaRPr lang="en-US" sz="4800" dirty="0"/>
          </a:p>
        </p:txBody>
      </p:sp>
      <p:sp>
        <p:nvSpPr>
          <p:cNvPr id="5" name="Text 2"/>
          <p:cNvSpPr/>
          <p:nvPr/>
        </p:nvSpPr>
        <p:spPr>
          <a:xfrm>
            <a:off x="812800" y="5521960"/>
            <a:ext cx="10883392"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B9C6D6"/>
                </a:solidFill>
                <a:latin typeface="IBM Plex Sans" pitchFamily="34" charset="0"/>
                <a:ea typeface="IBM Plex Sans" pitchFamily="34" charset="-122"/>
                <a:cs typeface="IBM Plex Sans" pitchFamily="34" charset="-120"/>
              </a:rPr>
              <a:t>Présentation du projet · Anas, Adam et Ainul</a:t>
            </a:r>
            <a:endParaRPr lang="en-US" sz="1800" dirty="0"/>
          </a:p>
        </p:txBody>
      </p:sp>
      <p:sp>
        <p:nvSpPr>
          <p:cNvPr id="6" name="Text 3"/>
          <p:cNvSpPr/>
          <p:nvPr/>
        </p:nvSpPr>
        <p:spPr>
          <a:xfrm>
            <a:off x="812800" y="6238240"/>
            <a:ext cx="256936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1B7"/>
                </a:solidFill>
                <a:latin typeface="IBM Plex Sans" pitchFamily="34" charset="0"/>
                <a:ea typeface="IBM Plex Sans" pitchFamily="34" charset="-122"/>
                <a:cs typeface="IBM Plex Sans" pitchFamily="34" charset="-120"/>
              </a:rPr>
              <a:t>IUT Nice Côte d’Azur · BUT R&amp;T</a:t>
            </a:r>
            <a:endParaRPr lang="en-US" sz="1200" dirty="0"/>
          </a:p>
        </p:txBody>
      </p:sp>
      <p:sp>
        <p:nvSpPr>
          <p:cNvPr id="7" name="Text 4"/>
          <p:cNvSpPr/>
          <p:nvPr/>
        </p:nvSpPr>
        <p:spPr>
          <a:xfrm>
            <a:off x="11003344" y="6238240"/>
            <a:ext cx="375857"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FA1B7"/>
                </a:solidFill>
                <a:latin typeface="IBM Plex Sans" pitchFamily="34" charset="0"/>
                <a:ea typeface="IBM Plex Sans" pitchFamily="34" charset="-122"/>
                <a:cs typeface="IBM Plex Sans" pitchFamily="34" charset="-120"/>
              </a:rPr>
              <a:t>1 / 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1B2D"/>
                </a:solidFill>
                <a:latin typeface="IBM Plex Sans" pitchFamily="34" charset="0"/>
                <a:ea typeface="IBM Plex Sans" pitchFamily="34" charset="-122"/>
                <a:cs typeface="IBM Plex Sans" pitchFamily="34" charset="-120"/>
              </a:rPr>
              <a:t>Ce que nous avons compris du sujet</a:t>
            </a:r>
            <a:endParaRPr lang="en-US" sz="3200" dirty="0"/>
          </a:p>
        </p:txBody>
      </p:sp>
      <p:sp>
        <p:nvSpPr>
          <p:cNvPr id="3" name="Shape 1"/>
          <p:cNvSpPr/>
          <p:nvPr/>
        </p:nvSpPr>
        <p:spPr>
          <a:xfrm>
            <a:off x="815975" y="1537335"/>
            <a:ext cx="3380264" cy="2391410"/>
          </a:xfrm>
          <a:prstGeom prst="roundRect">
            <a:avLst>
              <a:gd name="adj" fmla="val 4116"/>
            </a:avLst>
          </a:prstGeom>
          <a:solidFill>
            <a:srgbClr val="FDFCF8"/>
          </a:solidFill>
          <a:ln w="6350">
            <a:solidFill>
              <a:srgbClr val="D8D4C6"/>
            </a:solidFill>
            <a:prstDash val="solid"/>
          </a:ln>
        </p:spPr>
      </p:sp>
      <p:pic>
        <p:nvPicPr>
          <p:cNvPr id="4" name="Image 0" descr="Database"/>
          <p:cNvPicPr>
            <a:picLocks noChangeAspect="1"/>
          </p:cNvPicPr>
          <p:nvPr/>
        </p:nvPicPr>
        <p:blipFill>
          <a:blip r:embed="rId3"/>
          <a:srcRect/>
          <a:stretch/>
        </p:blipFill>
        <p:spPr>
          <a:xfrm>
            <a:off x="1071880" y="1793240"/>
            <a:ext cx="406400" cy="406400"/>
          </a:xfrm>
          <a:prstGeom prst="rect">
            <a:avLst/>
          </a:prstGeom>
        </p:spPr>
      </p:pic>
      <p:sp>
        <p:nvSpPr>
          <p:cNvPr id="5" name="Text 2"/>
          <p:cNvSpPr/>
          <p:nvPr/>
        </p:nvSpPr>
        <p:spPr>
          <a:xfrm>
            <a:off x="1071880" y="2301240"/>
            <a:ext cx="295450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IBM Plex Sans" pitchFamily="34" charset="0"/>
                <a:ea typeface="IBM Plex Sans" pitchFamily="34" charset="-122"/>
                <a:cs typeface="IBM Plex Sans" pitchFamily="34" charset="-120"/>
              </a:rPr>
              <a:t>Une base de données</a:t>
            </a:r>
            <a:endParaRPr lang="en-US" sz="1800" dirty="0"/>
          </a:p>
        </p:txBody>
      </p:sp>
      <p:sp>
        <p:nvSpPr>
          <p:cNvPr id="6" name="Text 3"/>
          <p:cNvSpPr/>
          <p:nvPr/>
        </p:nvSpPr>
        <p:spPr>
          <a:xfrm>
            <a:off x="1071880" y="2677160"/>
            <a:ext cx="2954507"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4B5B"/>
                </a:solidFill>
                <a:latin typeface="IBM Plex Sans" pitchFamily="34" charset="0"/>
                <a:ea typeface="IBM Plex Sans" pitchFamily="34" charset="-122"/>
                <a:cs typeface="IBM Plex Sans" pitchFamily="34" charset="-120"/>
              </a:rPr>
              <a:t>Elle stocke les questions et leurs réponses. Elle est locale et libre de droits.</a:t>
            </a:r>
            <a:endParaRPr lang="en-US" sz="1400" dirty="0"/>
          </a:p>
        </p:txBody>
      </p:sp>
      <p:sp>
        <p:nvSpPr>
          <p:cNvPr id="7" name="Shape 4"/>
          <p:cNvSpPr/>
          <p:nvPr/>
        </p:nvSpPr>
        <p:spPr>
          <a:xfrm>
            <a:off x="4405789" y="1537335"/>
            <a:ext cx="3380343" cy="2391410"/>
          </a:xfrm>
          <a:prstGeom prst="roundRect">
            <a:avLst>
              <a:gd name="adj" fmla="val 4116"/>
            </a:avLst>
          </a:prstGeom>
          <a:solidFill>
            <a:srgbClr val="FDFCF8"/>
          </a:solidFill>
          <a:ln w="6350">
            <a:solidFill>
              <a:srgbClr val="D8D4C6"/>
            </a:solidFill>
            <a:prstDash val="solid"/>
          </a:ln>
        </p:spPr>
      </p:sp>
      <p:pic>
        <p:nvPicPr>
          <p:cNvPr id="8" name="Image 1" descr="Code"/>
          <p:cNvPicPr>
            <a:picLocks noChangeAspect="1"/>
          </p:cNvPicPr>
          <p:nvPr/>
        </p:nvPicPr>
        <p:blipFill>
          <a:blip r:embed="rId4"/>
          <a:srcRect/>
          <a:stretch/>
        </p:blipFill>
        <p:spPr>
          <a:xfrm>
            <a:off x="4661694" y="1793240"/>
            <a:ext cx="406400" cy="406400"/>
          </a:xfrm>
          <a:prstGeom prst="rect">
            <a:avLst/>
          </a:prstGeom>
        </p:spPr>
      </p:pic>
      <p:sp>
        <p:nvSpPr>
          <p:cNvPr id="9" name="Text 5"/>
          <p:cNvSpPr/>
          <p:nvPr/>
        </p:nvSpPr>
        <p:spPr>
          <a:xfrm>
            <a:off x="4661694" y="2301240"/>
            <a:ext cx="2954589"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IBM Plex Sans" pitchFamily="34" charset="0"/>
                <a:ea typeface="IBM Plex Sans" pitchFamily="34" charset="-122"/>
                <a:cs typeface="IBM Plex Sans" pitchFamily="34" charset="-120"/>
              </a:rPr>
              <a:t>Une application Java</a:t>
            </a:r>
            <a:endParaRPr lang="en-US" sz="1800" dirty="0"/>
          </a:p>
        </p:txBody>
      </p:sp>
      <p:sp>
        <p:nvSpPr>
          <p:cNvPr id="10" name="Text 6"/>
          <p:cNvSpPr/>
          <p:nvPr/>
        </p:nvSpPr>
        <p:spPr>
          <a:xfrm>
            <a:off x="4661694" y="2677160"/>
            <a:ext cx="2954589"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4B5B"/>
                </a:solidFill>
                <a:latin typeface="IBM Plex Sans" pitchFamily="34" charset="0"/>
                <a:ea typeface="IBM Plex Sans" pitchFamily="34" charset="-122"/>
                <a:cs typeface="IBM Plex Sans" pitchFamily="34" charset="-120"/>
              </a:rPr>
              <a:t>Elle crée, modifie et supprime les questions, fait passer le quizz et importe les questions d’autres sites.</a:t>
            </a:r>
            <a:endParaRPr lang="en-US" sz="1400" dirty="0"/>
          </a:p>
        </p:txBody>
      </p:sp>
      <p:sp>
        <p:nvSpPr>
          <p:cNvPr id="11" name="Shape 7"/>
          <p:cNvSpPr/>
          <p:nvPr/>
        </p:nvSpPr>
        <p:spPr>
          <a:xfrm>
            <a:off x="7995682" y="1537335"/>
            <a:ext cx="3380343" cy="2391410"/>
          </a:xfrm>
          <a:prstGeom prst="roundRect">
            <a:avLst>
              <a:gd name="adj" fmla="val 4116"/>
            </a:avLst>
          </a:prstGeom>
          <a:solidFill>
            <a:srgbClr val="FDFCF8"/>
          </a:solidFill>
          <a:ln w="6350">
            <a:solidFill>
              <a:srgbClr val="D8D4C6"/>
            </a:solidFill>
            <a:prstDash val="solid"/>
          </a:ln>
        </p:spPr>
      </p:sp>
      <p:pic>
        <p:nvPicPr>
          <p:cNvPr id="12" name="Image 2" descr="Globe"/>
          <p:cNvPicPr>
            <a:picLocks noChangeAspect="1"/>
          </p:cNvPicPr>
          <p:nvPr/>
        </p:nvPicPr>
        <p:blipFill>
          <a:blip r:embed="rId5"/>
          <a:srcRect/>
          <a:stretch/>
        </p:blipFill>
        <p:spPr>
          <a:xfrm>
            <a:off x="8251587" y="1793240"/>
            <a:ext cx="406400" cy="406400"/>
          </a:xfrm>
          <a:prstGeom prst="rect">
            <a:avLst/>
          </a:prstGeom>
        </p:spPr>
      </p:pic>
      <p:sp>
        <p:nvSpPr>
          <p:cNvPr id="13" name="Text 8"/>
          <p:cNvSpPr/>
          <p:nvPr/>
        </p:nvSpPr>
        <p:spPr>
          <a:xfrm>
            <a:off x="8251587" y="2301240"/>
            <a:ext cx="2954589"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IBM Plex Sans" pitchFamily="34" charset="0"/>
                <a:ea typeface="IBM Plex Sans" pitchFamily="34" charset="-122"/>
                <a:cs typeface="IBM Plex Sans" pitchFamily="34" charset="-120"/>
              </a:rPr>
              <a:t>Un site web</a:t>
            </a:r>
            <a:endParaRPr lang="en-US" sz="1800" dirty="0"/>
          </a:p>
        </p:txBody>
      </p:sp>
      <p:sp>
        <p:nvSpPr>
          <p:cNvPr id="14" name="Text 9"/>
          <p:cNvSpPr/>
          <p:nvPr/>
        </p:nvSpPr>
        <p:spPr>
          <a:xfrm>
            <a:off x="8251587" y="2677160"/>
            <a:ext cx="2954589"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4B5B"/>
                </a:solidFill>
                <a:latin typeface="IBM Plex Sans" pitchFamily="34" charset="0"/>
                <a:ea typeface="IBM Plex Sans" pitchFamily="34" charset="-122"/>
                <a:cs typeface="IBM Plex Sans" pitchFamily="34" charset="-120"/>
              </a:rPr>
              <a:t>Il fait passer le quizz à partir de la base de données et publie questions et réponses en JSON sur /export.</a:t>
            </a:r>
            <a:endParaRPr lang="en-US" sz="1400" dirty="0"/>
          </a:p>
        </p:txBody>
      </p:sp>
      <p:sp>
        <p:nvSpPr>
          <p:cNvPr id="15" name="Shape 10"/>
          <p:cNvSpPr/>
          <p:nvPr/>
        </p:nvSpPr>
        <p:spPr>
          <a:xfrm>
            <a:off x="812800" y="4185920"/>
            <a:ext cx="10566400" cy="1229360"/>
          </a:xfrm>
          <a:prstGeom prst="roundRect">
            <a:avLst>
              <a:gd name="adj" fmla="val 8264"/>
            </a:avLst>
          </a:prstGeom>
          <a:solidFill>
            <a:srgbClr val="0F1B2D"/>
          </a:solidFill>
          <a:ln/>
        </p:spPr>
      </p:sp>
      <p:sp>
        <p:nvSpPr>
          <p:cNvPr id="16" name="Text 11"/>
          <p:cNvSpPr/>
          <p:nvPr/>
        </p:nvSpPr>
        <p:spPr>
          <a:xfrm>
            <a:off x="1066800" y="4389120"/>
            <a:ext cx="1036015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FD6C4"/>
                </a:solidFill>
                <a:latin typeface="IBM Plex Sans" pitchFamily="34" charset="0"/>
                <a:ea typeface="IBM Plex Sans" pitchFamily="34" charset="-122"/>
                <a:cs typeface="IBM Plex Sans" pitchFamily="34" charset="-120"/>
              </a:rPr>
              <a:t>THÈMES À TRAITER AU MINIMUM</a:t>
            </a:r>
            <a:endParaRPr lang="en-US" sz="1200" dirty="0"/>
          </a:p>
        </p:txBody>
      </p:sp>
      <p:sp>
        <p:nvSpPr>
          <p:cNvPr id="17" name="Text 12"/>
          <p:cNvSpPr/>
          <p:nvPr/>
        </p:nvSpPr>
        <p:spPr>
          <a:xfrm>
            <a:off x="1066800" y="4678680"/>
            <a:ext cx="1036015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6F5F0"/>
                </a:solidFill>
                <a:latin typeface="IBM Plex Sans" pitchFamily="34" charset="0"/>
                <a:ea typeface="IBM Plex Sans" pitchFamily="34" charset="-122"/>
                <a:cs typeface="IBM Plex Sans" pitchFamily="34" charset="-120"/>
              </a:rPr>
              <a:t>Architecture d’Internet et attaques · Mots de passe · Sécurité du matériel · Sécurité en ligne · Sécurité des données · Courrier électronique</a:t>
            </a:r>
            <a:endParaRPr lang="en-US" sz="1500" dirty="0"/>
          </a:p>
        </p:txBody>
      </p:sp>
      <p:sp>
        <p:nvSpPr>
          <p:cNvPr id="18" name="Text 13"/>
          <p:cNvSpPr/>
          <p:nvPr/>
        </p:nvSpPr>
        <p:spPr>
          <a:xfrm>
            <a:off x="812800" y="6238241"/>
            <a:ext cx="489899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0"/>
                </a:solidFill>
                <a:latin typeface="IBM Plex Sans" pitchFamily="34" charset="0"/>
                <a:ea typeface="IBM Plex Sans" pitchFamily="34" charset="-122"/>
                <a:cs typeface="IBM Plex Sans" pitchFamily="34" charset="-120"/>
              </a:rPr>
              <a:t>SAÉ 3.02 · Quizz d’hygiène informatique et de cybersécurité</a:t>
            </a:r>
            <a:endParaRPr lang="en-US" sz="1200" dirty="0"/>
          </a:p>
        </p:txBody>
      </p:sp>
      <p:sp>
        <p:nvSpPr>
          <p:cNvPr id="19" name="Text 14"/>
          <p:cNvSpPr/>
          <p:nvPr/>
        </p:nvSpPr>
        <p:spPr>
          <a:xfrm>
            <a:off x="11003344" y="6238241"/>
            <a:ext cx="375857"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670"/>
                </a:solidFill>
                <a:latin typeface="IBM Plex Sans" pitchFamily="34" charset="0"/>
                <a:ea typeface="IBM Plex Sans" pitchFamily="34" charset="-122"/>
                <a:cs typeface="IBM Plex Sans" pitchFamily="34" charset="-120"/>
              </a:rPr>
              <a:t>2 / 7</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E9D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1B2D"/>
                </a:solidFill>
                <a:latin typeface="IBM Plex Sans" pitchFamily="34" charset="0"/>
                <a:ea typeface="IBM Plex Sans" pitchFamily="34" charset="-122"/>
                <a:cs typeface="IBM Plex Sans" pitchFamily="34" charset="-120"/>
              </a:rPr>
              <a:t>Comment les trois parties communiquent</a:t>
            </a:r>
            <a:endParaRPr lang="en-US" sz="3200" dirty="0"/>
          </a:p>
        </p:txBody>
      </p:sp>
      <p:pic>
        <p:nvPicPr>
          <p:cNvPr id="3" name="Image 0" descr="connector"/>
          <p:cNvPicPr>
            <a:picLocks noChangeAspect="1"/>
          </p:cNvPicPr>
          <p:nvPr/>
        </p:nvPicPr>
        <p:blipFill>
          <a:blip r:embed="rId3"/>
          <a:srcRect/>
          <a:stretch/>
        </p:blipFill>
        <p:spPr>
          <a:xfrm>
            <a:off x="3556000" y="2175511"/>
            <a:ext cx="1193800" cy="101600"/>
          </a:xfrm>
          <a:prstGeom prst="rect">
            <a:avLst/>
          </a:prstGeom>
        </p:spPr>
      </p:pic>
      <p:pic>
        <p:nvPicPr>
          <p:cNvPr id="4" name="Image 1" descr="connector"/>
          <p:cNvPicPr>
            <a:picLocks noChangeAspect="1"/>
          </p:cNvPicPr>
          <p:nvPr/>
        </p:nvPicPr>
        <p:blipFill>
          <a:blip r:embed="rId3"/>
          <a:srcRect/>
          <a:stretch/>
        </p:blipFill>
        <p:spPr>
          <a:xfrm>
            <a:off x="7442200" y="2175511"/>
            <a:ext cx="1193800" cy="101600"/>
          </a:xfrm>
          <a:prstGeom prst="rect">
            <a:avLst/>
          </a:prstGeom>
        </p:spPr>
      </p:pic>
      <p:pic>
        <p:nvPicPr>
          <p:cNvPr id="5" name="Image 2" descr="connector"/>
          <p:cNvPicPr>
            <a:picLocks noChangeAspect="1"/>
          </p:cNvPicPr>
          <p:nvPr/>
        </p:nvPicPr>
        <p:blipFill>
          <a:blip r:embed="rId4"/>
          <a:srcRect/>
          <a:stretch/>
        </p:blipFill>
        <p:spPr>
          <a:xfrm>
            <a:off x="2159000" y="2715261"/>
            <a:ext cx="101600" cy="1562100"/>
          </a:xfrm>
          <a:prstGeom prst="rect">
            <a:avLst/>
          </a:prstGeom>
        </p:spPr>
      </p:pic>
      <p:pic>
        <p:nvPicPr>
          <p:cNvPr id="6" name="Image 3" descr="connector"/>
          <p:cNvPicPr>
            <a:picLocks noChangeAspect="1"/>
          </p:cNvPicPr>
          <p:nvPr/>
        </p:nvPicPr>
        <p:blipFill>
          <a:blip r:embed="rId5"/>
          <a:srcRect/>
          <a:stretch/>
        </p:blipFill>
        <p:spPr>
          <a:xfrm>
            <a:off x="9931400" y="2715261"/>
            <a:ext cx="101600" cy="1562100"/>
          </a:xfrm>
          <a:prstGeom prst="rect">
            <a:avLst/>
          </a:prstGeom>
        </p:spPr>
      </p:pic>
      <p:sp>
        <p:nvSpPr>
          <p:cNvPr id="7" name="Shape 1"/>
          <p:cNvSpPr/>
          <p:nvPr/>
        </p:nvSpPr>
        <p:spPr>
          <a:xfrm>
            <a:off x="819150" y="1692911"/>
            <a:ext cx="2781300" cy="1066800"/>
          </a:xfrm>
          <a:prstGeom prst="roundRect">
            <a:avLst>
              <a:gd name="adj" fmla="val 8929"/>
            </a:avLst>
          </a:prstGeom>
          <a:solidFill>
            <a:srgbClr val="FDFCF8"/>
          </a:solidFill>
          <a:ln w="12700">
            <a:solidFill>
              <a:srgbClr val="0F1B2D"/>
            </a:solidFill>
            <a:prstDash val="solid"/>
          </a:ln>
        </p:spPr>
      </p:sp>
      <p:sp>
        <p:nvSpPr>
          <p:cNvPr id="8" name="Text 2"/>
          <p:cNvSpPr/>
          <p:nvPr/>
        </p:nvSpPr>
        <p:spPr>
          <a:xfrm>
            <a:off x="1658588" y="1948180"/>
            <a:ext cx="1102424" cy="299720"/>
          </a:xfrm>
          <a:prstGeom prst="rect">
            <a:avLst/>
          </a:prstGeom>
          <a:noFill/>
          <a:ln/>
        </p:spPr>
        <p:txBody>
          <a:bodyPr wrap="square" lIns="0" tIns="0" rIns="0" bIns="0" rtlCol="0" anchor="t">
            <a:normAutofit/>
          </a:bodyPr>
          <a:lstStyle/>
          <a:p>
            <a:pPr marL="0" indent="0" algn="ctr">
              <a:lnSpc>
                <a:spcPts val="2160"/>
              </a:lnSpc>
              <a:buNone/>
            </a:pPr>
            <a:r>
              <a:rPr lang="en-US" sz="1800" b="1" dirty="0">
                <a:solidFill>
                  <a:srgbClr val="0F1B2D"/>
                </a:solidFill>
                <a:latin typeface="IBM Plex Sans" pitchFamily="34" charset="0"/>
                <a:ea typeface="IBM Plex Sans" pitchFamily="34" charset="-122"/>
                <a:cs typeface="IBM Plex Sans" pitchFamily="34" charset="-120"/>
              </a:rPr>
              <a:t>Site web</a:t>
            </a:r>
            <a:endParaRPr lang="en-US" sz="1800" dirty="0"/>
          </a:p>
        </p:txBody>
      </p:sp>
      <p:sp>
        <p:nvSpPr>
          <p:cNvPr id="9" name="Text 3"/>
          <p:cNvSpPr/>
          <p:nvPr/>
        </p:nvSpPr>
        <p:spPr>
          <a:xfrm>
            <a:off x="1157383" y="2273300"/>
            <a:ext cx="2104835" cy="25654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3F4B5B"/>
                </a:solidFill>
                <a:latin typeface="IBM Plex Sans" pitchFamily="34" charset="0"/>
                <a:ea typeface="IBM Plex Sans" pitchFamily="34" charset="-122"/>
                <a:cs typeface="IBM Plex Sans" pitchFamily="34" charset="-120"/>
              </a:rPr>
              <a:t>Le joueur passe le quizz</a:t>
            </a:r>
            <a:endParaRPr lang="en-US" sz="1300" dirty="0"/>
          </a:p>
        </p:txBody>
      </p:sp>
      <p:sp>
        <p:nvSpPr>
          <p:cNvPr id="10" name="Shape 4"/>
          <p:cNvSpPr/>
          <p:nvPr/>
        </p:nvSpPr>
        <p:spPr>
          <a:xfrm>
            <a:off x="4705350" y="1692911"/>
            <a:ext cx="2781300" cy="1066800"/>
          </a:xfrm>
          <a:prstGeom prst="roundRect">
            <a:avLst>
              <a:gd name="adj" fmla="val 8929"/>
            </a:avLst>
          </a:prstGeom>
          <a:solidFill>
            <a:srgbClr val="0F1B2D"/>
          </a:solidFill>
          <a:ln w="12700">
            <a:solidFill>
              <a:srgbClr val="0F1B2D"/>
            </a:solidFill>
            <a:prstDash val="solid"/>
          </a:ln>
        </p:spPr>
      </p:sp>
      <p:sp>
        <p:nvSpPr>
          <p:cNvPr id="11" name="Text 5"/>
          <p:cNvSpPr/>
          <p:nvPr/>
        </p:nvSpPr>
        <p:spPr>
          <a:xfrm>
            <a:off x="5017484" y="1948180"/>
            <a:ext cx="2157032" cy="299720"/>
          </a:xfrm>
          <a:prstGeom prst="rect">
            <a:avLst/>
          </a:prstGeom>
          <a:noFill/>
          <a:ln/>
        </p:spPr>
        <p:txBody>
          <a:bodyPr wrap="square" lIns="0" tIns="0" rIns="0" bIns="0" rtlCol="0" anchor="t">
            <a:normAutofit/>
          </a:bodyPr>
          <a:lstStyle/>
          <a:p>
            <a:pPr marL="0" indent="0" algn="ctr">
              <a:lnSpc>
                <a:spcPts val="2160"/>
              </a:lnSpc>
              <a:buNone/>
            </a:pPr>
            <a:r>
              <a:rPr lang="en-US" sz="1800" b="1" dirty="0">
                <a:solidFill>
                  <a:srgbClr val="F6F5F0"/>
                </a:solidFill>
                <a:latin typeface="IBM Plex Sans" pitchFamily="34" charset="0"/>
                <a:ea typeface="IBM Plex Sans" pitchFamily="34" charset="-122"/>
                <a:cs typeface="IBM Plex Sans" pitchFamily="34" charset="-120"/>
              </a:rPr>
              <a:t>Base de données</a:t>
            </a:r>
            <a:endParaRPr lang="en-US" sz="1800" dirty="0"/>
          </a:p>
        </p:txBody>
      </p:sp>
      <p:sp>
        <p:nvSpPr>
          <p:cNvPr id="12" name="Text 6"/>
          <p:cNvSpPr/>
          <p:nvPr/>
        </p:nvSpPr>
        <p:spPr>
          <a:xfrm>
            <a:off x="5101884" y="2273300"/>
            <a:ext cx="1988153" cy="25654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B9C6D6"/>
                </a:solidFill>
                <a:latin typeface="IBM Plex Sans" pitchFamily="34" charset="0"/>
                <a:ea typeface="IBM Plex Sans" pitchFamily="34" charset="-122"/>
                <a:cs typeface="IBM Plex Sans" pitchFamily="34" charset="-120"/>
              </a:rPr>
              <a:t>Questions et réponses</a:t>
            </a:r>
            <a:endParaRPr lang="en-US" sz="1300" dirty="0"/>
          </a:p>
        </p:txBody>
      </p:sp>
      <p:sp>
        <p:nvSpPr>
          <p:cNvPr id="13" name="Shape 7"/>
          <p:cNvSpPr/>
          <p:nvPr/>
        </p:nvSpPr>
        <p:spPr>
          <a:xfrm>
            <a:off x="8591550" y="1692911"/>
            <a:ext cx="2781300" cy="1066800"/>
          </a:xfrm>
          <a:prstGeom prst="roundRect">
            <a:avLst>
              <a:gd name="adj" fmla="val 8929"/>
            </a:avLst>
          </a:prstGeom>
          <a:solidFill>
            <a:srgbClr val="FDFCF8"/>
          </a:solidFill>
          <a:ln w="12700">
            <a:solidFill>
              <a:srgbClr val="0F1B2D"/>
            </a:solidFill>
            <a:prstDash val="solid"/>
          </a:ln>
        </p:spPr>
      </p:sp>
      <p:sp>
        <p:nvSpPr>
          <p:cNvPr id="14" name="Text 8"/>
          <p:cNvSpPr/>
          <p:nvPr/>
        </p:nvSpPr>
        <p:spPr>
          <a:xfrm>
            <a:off x="8924171" y="1948180"/>
            <a:ext cx="2115979" cy="299720"/>
          </a:xfrm>
          <a:prstGeom prst="rect">
            <a:avLst/>
          </a:prstGeom>
          <a:noFill/>
          <a:ln/>
        </p:spPr>
        <p:txBody>
          <a:bodyPr wrap="square" lIns="0" tIns="0" rIns="0" bIns="0" rtlCol="0" anchor="t">
            <a:normAutofit/>
          </a:bodyPr>
          <a:lstStyle/>
          <a:p>
            <a:pPr marL="0" indent="0" algn="ctr">
              <a:lnSpc>
                <a:spcPts val="2160"/>
              </a:lnSpc>
              <a:buNone/>
            </a:pPr>
            <a:r>
              <a:rPr lang="en-US" sz="1800" b="1" dirty="0">
                <a:solidFill>
                  <a:srgbClr val="0F1B2D"/>
                </a:solidFill>
                <a:latin typeface="IBM Plex Sans" pitchFamily="34" charset="0"/>
                <a:ea typeface="IBM Plex Sans" pitchFamily="34" charset="-122"/>
                <a:cs typeface="IBM Plex Sans" pitchFamily="34" charset="-120"/>
              </a:rPr>
              <a:t>Application Java</a:t>
            </a:r>
            <a:endParaRPr lang="en-US" sz="1800" dirty="0"/>
          </a:p>
        </p:txBody>
      </p:sp>
      <p:sp>
        <p:nvSpPr>
          <p:cNvPr id="15" name="Text 9"/>
          <p:cNvSpPr/>
          <p:nvPr/>
        </p:nvSpPr>
        <p:spPr>
          <a:xfrm>
            <a:off x="9034272" y="2273300"/>
            <a:ext cx="1895856" cy="25654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3F4B5B"/>
                </a:solidFill>
                <a:latin typeface="IBM Plex Sans" pitchFamily="34" charset="0"/>
                <a:ea typeface="IBM Plex Sans" pitchFamily="34" charset="-122"/>
                <a:cs typeface="IBM Plex Sans" pitchFamily="34" charset="-120"/>
              </a:rPr>
              <a:t>Gérer, jouer, importer</a:t>
            </a:r>
            <a:endParaRPr lang="en-US" sz="1300" dirty="0"/>
          </a:p>
        </p:txBody>
      </p:sp>
      <p:sp>
        <p:nvSpPr>
          <p:cNvPr id="16" name="Shape 10"/>
          <p:cNvSpPr/>
          <p:nvPr/>
        </p:nvSpPr>
        <p:spPr>
          <a:xfrm>
            <a:off x="819150" y="4232911"/>
            <a:ext cx="2781300" cy="1066800"/>
          </a:xfrm>
          <a:prstGeom prst="roundRect">
            <a:avLst>
              <a:gd name="adj" fmla="val 8929"/>
            </a:avLst>
          </a:prstGeom>
          <a:solidFill>
            <a:srgbClr val="ECE9DF"/>
          </a:solidFill>
          <a:ln w="12700">
            <a:solidFill>
              <a:srgbClr val="5C6670"/>
            </a:solidFill>
            <a:prstDash val="dash"/>
          </a:ln>
        </p:spPr>
      </p:sp>
      <p:sp>
        <p:nvSpPr>
          <p:cNvPr id="17" name="Text 11"/>
          <p:cNvSpPr/>
          <p:nvPr/>
        </p:nvSpPr>
        <p:spPr>
          <a:xfrm>
            <a:off x="839343" y="4503420"/>
            <a:ext cx="2740914" cy="269240"/>
          </a:xfrm>
          <a:prstGeom prst="rect">
            <a:avLst/>
          </a:prstGeom>
          <a:noFill/>
          <a:ln/>
        </p:spPr>
        <p:txBody>
          <a:bodyPr wrap="square" lIns="0" tIns="0" rIns="0" bIns="0" rtlCol="0" anchor="t">
            <a:normAutofit/>
          </a:bodyPr>
          <a:lstStyle/>
          <a:p>
            <a:pPr marL="0" indent="0" algn="ctr">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Java des autres groupes</a:t>
            </a:r>
            <a:endParaRPr lang="en-US" sz="1600" dirty="0"/>
          </a:p>
        </p:txBody>
      </p:sp>
      <p:sp>
        <p:nvSpPr>
          <p:cNvPr id="18" name="Text 12"/>
          <p:cNvSpPr/>
          <p:nvPr/>
        </p:nvSpPr>
        <p:spPr>
          <a:xfrm>
            <a:off x="1159859" y="4798061"/>
            <a:ext cx="2099882" cy="25654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3F4B5B"/>
                </a:solidFill>
                <a:latin typeface="IBM Plex Sans" pitchFamily="34" charset="0"/>
                <a:ea typeface="IBM Plex Sans" pitchFamily="34" charset="-122"/>
                <a:cs typeface="IBM Plex Sans" pitchFamily="34" charset="-120"/>
              </a:rPr>
              <a:t>Clients de notre /export</a:t>
            </a:r>
            <a:endParaRPr lang="en-US" sz="1300" dirty="0"/>
          </a:p>
        </p:txBody>
      </p:sp>
      <p:sp>
        <p:nvSpPr>
          <p:cNvPr id="19" name="Shape 13"/>
          <p:cNvSpPr/>
          <p:nvPr/>
        </p:nvSpPr>
        <p:spPr>
          <a:xfrm>
            <a:off x="8591550" y="4232911"/>
            <a:ext cx="2781300" cy="1066800"/>
          </a:xfrm>
          <a:prstGeom prst="roundRect">
            <a:avLst>
              <a:gd name="adj" fmla="val 8929"/>
            </a:avLst>
          </a:prstGeom>
          <a:solidFill>
            <a:srgbClr val="ECE9DF"/>
          </a:solidFill>
          <a:ln w="12700">
            <a:solidFill>
              <a:srgbClr val="5C6670"/>
            </a:solidFill>
            <a:prstDash val="dash"/>
          </a:ln>
        </p:spPr>
      </p:sp>
      <p:sp>
        <p:nvSpPr>
          <p:cNvPr id="20" name="Text 14"/>
          <p:cNvSpPr/>
          <p:nvPr/>
        </p:nvSpPr>
        <p:spPr>
          <a:xfrm>
            <a:off x="8597900" y="4503420"/>
            <a:ext cx="2768600" cy="269240"/>
          </a:xfrm>
          <a:prstGeom prst="rect">
            <a:avLst/>
          </a:prstGeom>
          <a:noFill/>
          <a:ln/>
        </p:spPr>
        <p:txBody>
          <a:bodyPr wrap="square" lIns="0" tIns="0" rIns="0" bIns="0" rtlCol="0" anchor="t">
            <a:normAutofit/>
          </a:bodyPr>
          <a:lstStyle/>
          <a:p>
            <a:pPr marL="0" indent="0" algn="ctr">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Sites des autres groupes</a:t>
            </a:r>
            <a:endParaRPr lang="en-US" sz="1600" dirty="0"/>
          </a:p>
        </p:txBody>
      </p:sp>
      <p:sp>
        <p:nvSpPr>
          <p:cNvPr id="21" name="Text 15"/>
          <p:cNvSpPr/>
          <p:nvPr/>
        </p:nvSpPr>
        <p:spPr>
          <a:xfrm>
            <a:off x="9142294" y="4798061"/>
            <a:ext cx="1679734" cy="25654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3F4B5B"/>
                </a:solidFill>
                <a:latin typeface="IBM Plex Sans" pitchFamily="34" charset="0"/>
                <a:ea typeface="IBM Plex Sans" pitchFamily="34" charset="-122"/>
                <a:cs typeface="IBM Plex Sans" pitchFamily="34" charset="-120"/>
              </a:rPr>
              <a:t>Publient leur JSON</a:t>
            </a:r>
            <a:endParaRPr lang="en-US" sz="1300" dirty="0"/>
          </a:p>
        </p:txBody>
      </p:sp>
      <p:sp>
        <p:nvSpPr>
          <p:cNvPr id="22" name="Shape 16"/>
          <p:cNvSpPr/>
          <p:nvPr/>
        </p:nvSpPr>
        <p:spPr>
          <a:xfrm>
            <a:off x="4705350" y="4232911"/>
            <a:ext cx="2781300" cy="1066800"/>
          </a:xfrm>
          <a:prstGeom prst="roundRect">
            <a:avLst>
              <a:gd name="adj" fmla="val 8929"/>
            </a:avLst>
          </a:prstGeom>
          <a:solidFill>
            <a:srgbClr val="DDF0EC"/>
          </a:solidFill>
          <a:ln w="12700">
            <a:solidFill>
              <a:srgbClr val="9ED8CF"/>
            </a:solidFill>
            <a:prstDash val="solid"/>
          </a:ln>
        </p:spPr>
      </p:sp>
      <p:sp>
        <p:nvSpPr>
          <p:cNvPr id="23" name="Text 17"/>
          <p:cNvSpPr/>
          <p:nvPr/>
        </p:nvSpPr>
        <p:spPr>
          <a:xfrm>
            <a:off x="4861560" y="4518661"/>
            <a:ext cx="2542947"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B5F56"/>
                </a:solidFill>
                <a:latin typeface="IBM Plex Sans" pitchFamily="34" charset="0"/>
                <a:ea typeface="IBM Plex Sans" pitchFamily="34" charset="-122"/>
                <a:cs typeface="IBM Plex Sans" pitchFamily="34" charset="-120"/>
              </a:rPr>
              <a:t>Format d’échange</a:t>
            </a:r>
            <a:endParaRPr lang="en-US" sz="1300" dirty="0"/>
          </a:p>
        </p:txBody>
      </p:sp>
      <p:sp>
        <p:nvSpPr>
          <p:cNvPr id="24" name="Text 18"/>
          <p:cNvSpPr/>
          <p:nvPr/>
        </p:nvSpPr>
        <p:spPr>
          <a:xfrm>
            <a:off x="4861560" y="4800600"/>
            <a:ext cx="254294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F1B2D"/>
                </a:solidFill>
                <a:latin typeface="JetBrains Mono" pitchFamily="49" charset="0"/>
                <a:ea typeface="JetBrains Mono" pitchFamily="49" charset="-122"/>
                <a:cs typeface="JetBrains Mono" pitchFamily="49" charset="-120"/>
              </a:rPr>
              <a:t>{ "quizz": [ question* ] }</a:t>
            </a:r>
            <a:endParaRPr lang="en-US" sz="1200" dirty="0"/>
          </a:p>
        </p:txBody>
      </p:sp>
      <p:sp>
        <p:nvSpPr>
          <p:cNvPr id="25" name="Text 19"/>
          <p:cNvSpPr/>
          <p:nvPr/>
        </p:nvSpPr>
        <p:spPr>
          <a:xfrm>
            <a:off x="3632200" y="1737361"/>
            <a:ext cx="1041400" cy="4521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3F4B5B"/>
                </a:solidFill>
                <a:latin typeface="IBM Plex Sans" pitchFamily="34" charset="0"/>
                <a:ea typeface="IBM Plex Sans" pitchFamily="34" charset="-122"/>
                <a:cs typeface="IBM Plex Sans" pitchFamily="34" charset="-120"/>
              </a:rPr>
              <a:t>lit les questions</a:t>
            </a:r>
            <a:endParaRPr lang="en-US" sz="1200" dirty="0"/>
          </a:p>
        </p:txBody>
      </p:sp>
      <p:sp>
        <p:nvSpPr>
          <p:cNvPr id="26" name="Text 20"/>
          <p:cNvSpPr/>
          <p:nvPr/>
        </p:nvSpPr>
        <p:spPr>
          <a:xfrm>
            <a:off x="7518400" y="1737361"/>
            <a:ext cx="1041400" cy="452120"/>
          </a:xfrm>
          <a:prstGeom prst="rect">
            <a:avLst/>
          </a:prstGeom>
          <a:noFill/>
          <a:ln/>
        </p:spPr>
        <p:txBody>
          <a:bodyPr wrap="square" lIns="0" tIns="0" rIns="0" bIns="0" rtlCol="0" anchor="t">
            <a:normAutofit/>
          </a:bodyPr>
          <a:lstStyle/>
          <a:p>
            <a:pPr marL="0" indent="0" algn="ctr">
              <a:lnSpc>
                <a:spcPts val="1680"/>
              </a:lnSpc>
              <a:buNone/>
            </a:pPr>
            <a:endParaRPr lang="en-US" sz="1200" dirty="0"/>
          </a:p>
        </p:txBody>
      </p:sp>
      <p:sp>
        <p:nvSpPr>
          <p:cNvPr id="27" name="Text 21"/>
          <p:cNvSpPr/>
          <p:nvPr/>
        </p:nvSpPr>
        <p:spPr>
          <a:xfrm>
            <a:off x="2311400" y="3388361"/>
            <a:ext cx="23545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4B5B"/>
                </a:solidFill>
                <a:latin typeface="IBM Plex Sans" pitchFamily="34" charset="0"/>
                <a:ea typeface="IBM Plex Sans" pitchFamily="34" charset="-122"/>
                <a:cs typeface="IBM Plex Sans" pitchFamily="34" charset="-120"/>
              </a:rPr>
              <a:t>publie le JSON sur /export</a:t>
            </a:r>
            <a:endParaRPr lang="en-US" sz="1200" dirty="0"/>
          </a:p>
        </p:txBody>
      </p:sp>
      <p:sp>
        <p:nvSpPr>
          <p:cNvPr id="28" name="Text 22"/>
          <p:cNvSpPr/>
          <p:nvPr/>
        </p:nvSpPr>
        <p:spPr>
          <a:xfrm>
            <a:off x="7576820" y="3388361"/>
            <a:ext cx="235458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3F4B5B"/>
                </a:solidFill>
                <a:latin typeface="IBM Plex Sans" pitchFamily="34" charset="0"/>
                <a:ea typeface="IBM Plex Sans" pitchFamily="34" charset="-122"/>
                <a:cs typeface="IBM Plex Sans" pitchFamily="34" charset="-120"/>
              </a:rPr>
              <a:t>récupère le JSON sur /export</a:t>
            </a:r>
            <a:endParaRPr lang="en-US" sz="1200" dirty="0"/>
          </a:p>
        </p:txBody>
      </p:sp>
      <p:sp>
        <p:nvSpPr>
          <p:cNvPr id="29" name="Text 23"/>
          <p:cNvSpPr/>
          <p:nvPr/>
        </p:nvSpPr>
        <p:spPr>
          <a:xfrm>
            <a:off x="812800" y="6238241"/>
            <a:ext cx="489899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0"/>
                </a:solidFill>
                <a:latin typeface="IBM Plex Sans" pitchFamily="34" charset="0"/>
                <a:ea typeface="IBM Plex Sans" pitchFamily="34" charset="-122"/>
                <a:cs typeface="IBM Plex Sans" pitchFamily="34" charset="-120"/>
              </a:rPr>
              <a:t>SAÉ 3.02 · Quizz d’hygiène informatique et de cybersécurité</a:t>
            </a:r>
            <a:endParaRPr lang="en-US" sz="1200" dirty="0"/>
          </a:p>
        </p:txBody>
      </p:sp>
      <p:sp>
        <p:nvSpPr>
          <p:cNvPr id="30" name="Text 24"/>
          <p:cNvSpPr/>
          <p:nvPr/>
        </p:nvSpPr>
        <p:spPr>
          <a:xfrm>
            <a:off x="11003344" y="6238241"/>
            <a:ext cx="375857"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670"/>
                </a:solidFill>
                <a:latin typeface="IBM Plex Sans" pitchFamily="34" charset="0"/>
                <a:ea typeface="IBM Plex Sans" pitchFamily="34" charset="-122"/>
                <a:cs typeface="IBM Plex Sans" pitchFamily="34" charset="-120"/>
              </a:rPr>
              <a:t>3 / 7</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1B2D"/>
                </a:solidFill>
                <a:latin typeface="IBM Plex Sans" pitchFamily="34" charset="0"/>
                <a:ea typeface="IBM Plex Sans" pitchFamily="34" charset="-122"/>
                <a:cs typeface="IBM Plex Sans" pitchFamily="34" charset="-120"/>
              </a:rPr>
              <a:t>Sur le site web : le parcours du joueur</a:t>
            </a:r>
            <a:endParaRPr lang="en-US" sz="3200" dirty="0"/>
          </a:p>
        </p:txBody>
      </p:sp>
      <p:sp>
        <p:nvSpPr>
          <p:cNvPr id="3" name="Shape 1"/>
          <p:cNvSpPr/>
          <p:nvPr/>
        </p:nvSpPr>
        <p:spPr>
          <a:xfrm>
            <a:off x="815975" y="1537336"/>
            <a:ext cx="2485390" cy="2376170"/>
          </a:xfrm>
          <a:prstGeom prst="roundRect">
            <a:avLst>
              <a:gd name="adj" fmla="val 4142"/>
            </a:avLst>
          </a:prstGeom>
          <a:solidFill>
            <a:srgbClr val="FDFCF8"/>
          </a:solidFill>
          <a:ln w="6350">
            <a:solidFill>
              <a:srgbClr val="D8D4C6"/>
            </a:solidFill>
            <a:prstDash val="solid"/>
          </a:ln>
        </p:spPr>
      </p:sp>
      <p:sp>
        <p:nvSpPr>
          <p:cNvPr id="4" name="Text 2"/>
          <p:cNvSpPr/>
          <p:nvPr/>
        </p:nvSpPr>
        <p:spPr>
          <a:xfrm>
            <a:off x="1046480" y="1767841"/>
            <a:ext cx="2085112"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0B7A6F"/>
                </a:solidFill>
                <a:latin typeface="JetBrains Mono" pitchFamily="49" charset="0"/>
                <a:ea typeface="JetBrains Mono" pitchFamily="49" charset="-122"/>
                <a:cs typeface="JetBrains Mono" pitchFamily="49" charset="-120"/>
              </a:rPr>
              <a:t>1</a:t>
            </a:r>
            <a:endParaRPr lang="en-US" sz="3200" dirty="0"/>
          </a:p>
        </p:txBody>
      </p:sp>
      <p:sp>
        <p:nvSpPr>
          <p:cNvPr id="5" name="Text 3"/>
          <p:cNvSpPr/>
          <p:nvPr/>
        </p:nvSpPr>
        <p:spPr>
          <a:xfrm>
            <a:off x="1046480" y="2316480"/>
            <a:ext cx="2085112" cy="5435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F1B2D"/>
                </a:solidFill>
                <a:latin typeface="IBM Plex Sans" pitchFamily="34" charset="0"/>
                <a:ea typeface="IBM Plex Sans" pitchFamily="34" charset="-122"/>
                <a:cs typeface="IBM Plex Sans" pitchFamily="34" charset="-120"/>
              </a:rPr>
              <a:t>La question s’affiche</a:t>
            </a:r>
            <a:endParaRPr lang="en-US" sz="1700" dirty="0"/>
          </a:p>
        </p:txBody>
      </p:sp>
      <p:sp>
        <p:nvSpPr>
          <p:cNvPr id="6" name="Text 4"/>
          <p:cNvSpPr/>
          <p:nvPr/>
        </p:nvSpPr>
        <p:spPr>
          <a:xfrm>
            <a:off x="1046480" y="2936241"/>
            <a:ext cx="208511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4B5B"/>
                </a:solidFill>
                <a:latin typeface="IBM Plex Sans" pitchFamily="34" charset="0"/>
                <a:ea typeface="IBM Plex Sans" pitchFamily="34" charset="-122"/>
                <a:cs typeface="IBM Plex Sans" pitchFamily="34" charset="-120"/>
              </a:rPr>
              <a:t>Une question à la fois, avec ses réponses sous forme de cases à cocher.</a:t>
            </a:r>
            <a:endParaRPr lang="en-US" sz="1400" dirty="0"/>
          </a:p>
        </p:txBody>
      </p:sp>
      <p:sp>
        <p:nvSpPr>
          <p:cNvPr id="7" name="Shape 5"/>
          <p:cNvSpPr/>
          <p:nvPr/>
        </p:nvSpPr>
        <p:spPr>
          <a:xfrm>
            <a:off x="3510915" y="1537336"/>
            <a:ext cx="2485390" cy="2376170"/>
          </a:xfrm>
          <a:prstGeom prst="roundRect">
            <a:avLst>
              <a:gd name="adj" fmla="val 4142"/>
            </a:avLst>
          </a:prstGeom>
          <a:solidFill>
            <a:srgbClr val="FDFCF8"/>
          </a:solidFill>
          <a:ln w="6350">
            <a:solidFill>
              <a:srgbClr val="D8D4C6"/>
            </a:solidFill>
            <a:prstDash val="solid"/>
          </a:ln>
        </p:spPr>
      </p:sp>
      <p:sp>
        <p:nvSpPr>
          <p:cNvPr id="8" name="Text 6"/>
          <p:cNvSpPr/>
          <p:nvPr/>
        </p:nvSpPr>
        <p:spPr>
          <a:xfrm>
            <a:off x="3741420" y="1767841"/>
            <a:ext cx="2085112"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0B7A6F"/>
                </a:solidFill>
                <a:latin typeface="JetBrains Mono" pitchFamily="49" charset="0"/>
                <a:ea typeface="JetBrains Mono" pitchFamily="49" charset="-122"/>
                <a:cs typeface="JetBrains Mono" pitchFamily="49" charset="-120"/>
              </a:rPr>
              <a:t>2</a:t>
            </a:r>
            <a:endParaRPr lang="en-US" sz="3200" dirty="0"/>
          </a:p>
        </p:txBody>
      </p:sp>
      <p:sp>
        <p:nvSpPr>
          <p:cNvPr id="9" name="Text 7"/>
          <p:cNvSpPr/>
          <p:nvPr/>
        </p:nvSpPr>
        <p:spPr>
          <a:xfrm>
            <a:off x="3741420" y="2316480"/>
            <a:ext cx="208511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F1B2D"/>
                </a:solidFill>
                <a:latin typeface="IBM Plex Sans" pitchFamily="34" charset="0"/>
                <a:ea typeface="IBM Plex Sans" pitchFamily="34" charset="-122"/>
                <a:cs typeface="IBM Plex Sans" pitchFamily="34" charset="-120"/>
              </a:rPr>
              <a:t>Le joueur coche</a:t>
            </a:r>
            <a:endParaRPr lang="en-US" sz="1700" dirty="0"/>
          </a:p>
        </p:txBody>
      </p:sp>
      <p:sp>
        <p:nvSpPr>
          <p:cNvPr id="10" name="Text 8"/>
          <p:cNvSpPr/>
          <p:nvPr/>
        </p:nvSpPr>
        <p:spPr>
          <a:xfrm>
            <a:off x="3741420" y="2677161"/>
            <a:ext cx="2085112"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4B5B"/>
                </a:solidFill>
                <a:latin typeface="IBM Plex Sans" pitchFamily="34" charset="0"/>
                <a:ea typeface="IBM Plex Sans" pitchFamily="34" charset="-122"/>
                <a:cs typeface="IBM Plex Sans" pitchFamily="34" charset="-120"/>
              </a:rPr>
              <a:t>Il choisit une ou plusieurs réponses, selon le type de question.</a:t>
            </a:r>
            <a:endParaRPr lang="en-US" sz="1400" dirty="0"/>
          </a:p>
        </p:txBody>
      </p:sp>
      <p:sp>
        <p:nvSpPr>
          <p:cNvPr id="11" name="Shape 9"/>
          <p:cNvSpPr/>
          <p:nvPr/>
        </p:nvSpPr>
        <p:spPr>
          <a:xfrm>
            <a:off x="6205855" y="1537336"/>
            <a:ext cx="2485390" cy="2376170"/>
          </a:xfrm>
          <a:prstGeom prst="roundRect">
            <a:avLst>
              <a:gd name="adj" fmla="val 4142"/>
            </a:avLst>
          </a:prstGeom>
          <a:solidFill>
            <a:srgbClr val="FDFCF8"/>
          </a:solidFill>
          <a:ln w="6350">
            <a:solidFill>
              <a:srgbClr val="D8D4C6"/>
            </a:solidFill>
            <a:prstDash val="solid"/>
          </a:ln>
        </p:spPr>
      </p:sp>
      <p:sp>
        <p:nvSpPr>
          <p:cNvPr id="12" name="Text 10"/>
          <p:cNvSpPr/>
          <p:nvPr/>
        </p:nvSpPr>
        <p:spPr>
          <a:xfrm>
            <a:off x="6436360" y="1767841"/>
            <a:ext cx="2085112"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0B7A6F"/>
                </a:solidFill>
                <a:latin typeface="JetBrains Mono" pitchFamily="49" charset="0"/>
                <a:ea typeface="JetBrains Mono" pitchFamily="49" charset="-122"/>
                <a:cs typeface="JetBrains Mono" pitchFamily="49" charset="-120"/>
              </a:rPr>
              <a:t>3</a:t>
            </a:r>
            <a:endParaRPr lang="en-US" sz="3200" dirty="0"/>
          </a:p>
        </p:txBody>
      </p:sp>
      <p:sp>
        <p:nvSpPr>
          <p:cNvPr id="13" name="Text 11"/>
          <p:cNvSpPr/>
          <p:nvPr/>
        </p:nvSpPr>
        <p:spPr>
          <a:xfrm>
            <a:off x="6436360" y="2316480"/>
            <a:ext cx="2085112" cy="5435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F1B2D"/>
                </a:solidFill>
                <a:latin typeface="IBM Plex Sans" pitchFamily="34" charset="0"/>
                <a:ea typeface="IBM Plex Sans" pitchFamily="34" charset="-122"/>
                <a:cs typeface="IBM Plex Sans" pitchFamily="34" charset="-120"/>
              </a:rPr>
              <a:t>« C’est mon dernier mot »</a:t>
            </a:r>
            <a:endParaRPr lang="en-US" sz="1700" dirty="0"/>
          </a:p>
        </p:txBody>
      </p:sp>
      <p:sp>
        <p:nvSpPr>
          <p:cNvPr id="14" name="Text 12"/>
          <p:cNvSpPr/>
          <p:nvPr/>
        </p:nvSpPr>
        <p:spPr>
          <a:xfrm>
            <a:off x="6436360" y="2936241"/>
            <a:ext cx="208511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4B5B"/>
                </a:solidFill>
                <a:latin typeface="IBM Plex Sans" pitchFamily="34" charset="0"/>
                <a:ea typeface="IBM Plex Sans" pitchFamily="34" charset="-122"/>
                <a:cs typeface="IBM Plex Sans" pitchFamily="34" charset="-120"/>
              </a:rPr>
              <a:t>Un clic sur ce bouton valide la sélection du joueur.</a:t>
            </a:r>
            <a:endParaRPr lang="en-US" sz="1400" dirty="0"/>
          </a:p>
        </p:txBody>
      </p:sp>
      <p:sp>
        <p:nvSpPr>
          <p:cNvPr id="15" name="Shape 13"/>
          <p:cNvSpPr/>
          <p:nvPr/>
        </p:nvSpPr>
        <p:spPr>
          <a:xfrm>
            <a:off x="8897620" y="1534161"/>
            <a:ext cx="2481580" cy="2382520"/>
          </a:xfrm>
          <a:prstGeom prst="roundRect">
            <a:avLst>
              <a:gd name="adj" fmla="val 4264"/>
            </a:avLst>
          </a:prstGeom>
          <a:solidFill>
            <a:srgbClr val="0F1B2D"/>
          </a:solidFill>
          <a:ln/>
        </p:spPr>
      </p:sp>
      <p:sp>
        <p:nvSpPr>
          <p:cNvPr id="16" name="Text 14"/>
          <p:cNvSpPr/>
          <p:nvPr/>
        </p:nvSpPr>
        <p:spPr>
          <a:xfrm>
            <a:off x="9126220" y="1762761"/>
            <a:ext cx="2085112"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4FD6C4"/>
                </a:solidFill>
                <a:latin typeface="JetBrains Mono" pitchFamily="49" charset="0"/>
                <a:ea typeface="JetBrains Mono" pitchFamily="49" charset="-122"/>
                <a:cs typeface="JetBrains Mono" pitchFamily="49" charset="-120"/>
              </a:rPr>
              <a:t>4</a:t>
            </a:r>
            <a:endParaRPr lang="en-US" sz="3200" dirty="0"/>
          </a:p>
        </p:txBody>
      </p:sp>
      <p:sp>
        <p:nvSpPr>
          <p:cNvPr id="17" name="Text 15"/>
          <p:cNvSpPr/>
          <p:nvPr/>
        </p:nvSpPr>
        <p:spPr>
          <a:xfrm>
            <a:off x="9126220" y="2311400"/>
            <a:ext cx="208511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6F5F0"/>
                </a:solidFill>
                <a:latin typeface="IBM Plex Sans" pitchFamily="34" charset="0"/>
                <a:ea typeface="IBM Plex Sans" pitchFamily="34" charset="-122"/>
                <a:cs typeface="IBM Plex Sans" pitchFamily="34" charset="-120"/>
              </a:rPr>
              <a:t>Juste ou faux</a:t>
            </a:r>
            <a:endParaRPr lang="en-US" sz="1700" dirty="0"/>
          </a:p>
        </p:txBody>
      </p:sp>
      <p:sp>
        <p:nvSpPr>
          <p:cNvPr id="18" name="Text 16"/>
          <p:cNvSpPr/>
          <p:nvPr/>
        </p:nvSpPr>
        <p:spPr>
          <a:xfrm>
            <a:off x="9126220" y="2672080"/>
            <a:ext cx="208511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C6D6"/>
                </a:solidFill>
                <a:latin typeface="IBM Plex Sans" pitchFamily="34" charset="0"/>
                <a:ea typeface="IBM Plex Sans" pitchFamily="34" charset="-122"/>
                <a:cs typeface="IBM Plex Sans" pitchFamily="34" charset="-120"/>
              </a:rPr>
              <a:t>Le site affiche le résultat, puis la question suivante. Le score s’affiche à la fin.</a:t>
            </a:r>
            <a:endParaRPr lang="en-US" sz="1400" dirty="0"/>
          </a:p>
        </p:txBody>
      </p:sp>
      <p:sp>
        <p:nvSpPr>
          <p:cNvPr id="20" name="Text 18"/>
          <p:cNvSpPr/>
          <p:nvPr/>
        </p:nvSpPr>
        <p:spPr>
          <a:xfrm>
            <a:off x="812800" y="6238239"/>
            <a:ext cx="489899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0"/>
                </a:solidFill>
                <a:latin typeface="IBM Plex Sans" pitchFamily="34" charset="0"/>
                <a:ea typeface="IBM Plex Sans" pitchFamily="34" charset="-122"/>
                <a:cs typeface="IBM Plex Sans" pitchFamily="34" charset="-120"/>
              </a:rPr>
              <a:t>SAÉ 3.02 · Quizz d’hygiène informatique et de cybersécurité</a:t>
            </a:r>
            <a:endParaRPr lang="en-US" sz="1200" dirty="0"/>
          </a:p>
        </p:txBody>
      </p:sp>
      <p:sp>
        <p:nvSpPr>
          <p:cNvPr id="21" name="Text 19"/>
          <p:cNvSpPr/>
          <p:nvPr/>
        </p:nvSpPr>
        <p:spPr>
          <a:xfrm>
            <a:off x="11003344" y="6238239"/>
            <a:ext cx="375857"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670"/>
                </a:solidFill>
                <a:latin typeface="IBM Plex Sans" pitchFamily="34" charset="0"/>
                <a:ea typeface="IBM Plex Sans" pitchFamily="34" charset="-122"/>
                <a:cs typeface="IBM Plex Sans" pitchFamily="34" charset="-120"/>
              </a:rPr>
              <a:t>4 / 7</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9D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1B2D"/>
                </a:solidFill>
                <a:latin typeface="IBM Plex Sans" pitchFamily="34" charset="0"/>
                <a:ea typeface="IBM Plex Sans" pitchFamily="34" charset="-122"/>
                <a:cs typeface="IBM Plex Sans" pitchFamily="34" charset="-120"/>
              </a:rPr>
              <a:t>Dans l’application Java : quatre écrans</a:t>
            </a:r>
            <a:endParaRPr lang="en-US" sz="3200" dirty="0"/>
          </a:p>
        </p:txBody>
      </p:sp>
      <p:sp>
        <p:nvSpPr>
          <p:cNvPr id="3" name="Shape 1"/>
          <p:cNvSpPr/>
          <p:nvPr/>
        </p:nvSpPr>
        <p:spPr>
          <a:xfrm>
            <a:off x="815975" y="1537336"/>
            <a:ext cx="5175250" cy="1360170"/>
          </a:xfrm>
          <a:prstGeom prst="roundRect">
            <a:avLst>
              <a:gd name="adj" fmla="val 7236"/>
            </a:avLst>
          </a:prstGeom>
          <a:solidFill>
            <a:srgbClr val="FDFCF8"/>
          </a:solidFill>
          <a:ln w="6350">
            <a:solidFill>
              <a:srgbClr val="D8D4C6"/>
            </a:solidFill>
            <a:prstDash val="solid"/>
          </a:ln>
        </p:spPr>
      </p:sp>
      <p:pic>
        <p:nvPicPr>
          <p:cNvPr id="4" name="Image 0" descr="Book"/>
          <p:cNvPicPr>
            <a:picLocks noChangeAspect="1"/>
          </p:cNvPicPr>
          <p:nvPr/>
        </p:nvPicPr>
        <p:blipFill>
          <a:blip r:embed="rId3"/>
          <a:srcRect/>
          <a:stretch/>
        </p:blipFill>
        <p:spPr>
          <a:xfrm>
            <a:off x="1071880" y="1793239"/>
            <a:ext cx="406400" cy="406400"/>
          </a:xfrm>
          <a:prstGeom prst="rect">
            <a:avLst/>
          </a:prstGeom>
        </p:spPr>
      </p:pic>
      <p:sp>
        <p:nvSpPr>
          <p:cNvPr id="5" name="Text 2"/>
          <p:cNvSpPr/>
          <p:nvPr/>
        </p:nvSpPr>
        <p:spPr>
          <a:xfrm>
            <a:off x="1656080" y="1793239"/>
            <a:ext cx="420161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IBM Plex Sans" pitchFamily="34" charset="0"/>
                <a:ea typeface="IBM Plex Sans" pitchFamily="34" charset="-122"/>
                <a:cs typeface="IBM Plex Sans" pitchFamily="34" charset="-120"/>
              </a:rPr>
              <a:t>Gestion des questions</a:t>
            </a:r>
            <a:endParaRPr lang="en-US" sz="1800" dirty="0"/>
          </a:p>
        </p:txBody>
      </p:sp>
      <p:sp>
        <p:nvSpPr>
          <p:cNvPr id="6" name="Text 3"/>
          <p:cNvSpPr/>
          <p:nvPr/>
        </p:nvSpPr>
        <p:spPr>
          <a:xfrm>
            <a:off x="1656080" y="2143761"/>
            <a:ext cx="420161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4B5B"/>
                </a:solidFill>
                <a:latin typeface="IBM Plex Sans" pitchFamily="34" charset="0"/>
                <a:ea typeface="IBM Plex Sans" pitchFamily="34" charset="-122"/>
                <a:cs typeface="IBM Plex Sans" pitchFamily="34" charset="-120"/>
              </a:rPr>
              <a:t>La liste des questions, avec les boutons Créer, Modifier et Supprimer.</a:t>
            </a:r>
            <a:endParaRPr lang="en-US" sz="1400" dirty="0"/>
          </a:p>
        </p:txBody>
      </p:sp>
      <p:sp>
        <p:nvSpPr>
          <p:cNvPr id="7" name="Shape 4"/>
          <p:cNvSpPr/>
          <p:nvPr/>
        </p:nvSpPr>
        <p:spPr>
          <a:xfrm>
            <a:off x="6200775" y="1537336"/>
            <a:ext cx="5175250" cy="1360170"/>
          </a:xfrm>
          <a:prstGeom prst="roundRect">
            <a:avLst>
              <a:gd name="adj" fmla="val 7236"/>
            </a:avLst>
          </a:prstGeom>
          <a:solidFill>
            <a:srgbClr val="FDFCF8"/>
          </a:solidFill>
          <a:ln w="6350">
            <a:solidFill>
              <a:srgbClr val="D8D4C6"/>
            </a:solidFill>
            <a:prstDash val="solid"/>
          </a:ln>
        </p:spPr>
      </p:sp>
      <p:pic>
        <p:nvPicPr>
          <p:cNvPr id="8" name="Image 1" descr="Wrench"/>
          <p:cNvPicPr>
            <a:picLocks noChangeAspect="1"/>
          </p:cNvPicPr>
          <p:nvPr/>
        </p:nvPicPr>
        <p:blipFill>
          <a:blip r:embed="rId4"/>
          <a:srcRect/>
          <a:stretch/>
        </p:blipFill>
        <p:spPr>
          <a:xfrm>
            <a:off x="6456680" y="1793239"/>
            <a:ext cx="406400" cy="406400"/>
          </a:xfrm>
          <a:prstGeom prst="rect">
            <a:avLst/>
          </a:prstGeom>
        </p:spPr>
      </p:pic>
      <p:sp>
        <p:nvSpPr>
          <p:cNvPr id="9" name="Text 5"/>
          <p:cNvSpPr/>
          <p:nvPr/>
        </p:nvSpPr>
        <p:spPr>
          <a:xfrm>
            <a:off x="7040880" y="1793239"/>
            <a:ext cx="420161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IBM Plex Sans" pitchFamily="34" charset="0"/>
                <a:ea typeface="IBM Plex Sans" pitchFamily="34" charset="-122"/>
                <a:cs typeface="IBM Plex Sans" pitchFamily="34" charset="-120"/>
              </a:rPr>
              <a:t>Formulaire de question</a:t>
            </a:r>
            <a:endParaRPr lang="en-US" sz="1800" dirty="0"/>
          </a:p>
        </p:txBody>
      </p:sp>
      <p:sp>
        <p:nvSpPr>
          <p:cNvPr id="10" name="Text 6"/>
          <p:cNvSpPr/>
          <p:nvPr/>
        </p:nvSpPr>
        <p:spPr>
          <a:xfrm>
            <a:off x="7040880" y="2143761"/>
            <a:ext cx="420161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4B5B"/>
                </a:solidFill>
                <a:latin typeface="IBM Plex Sans" pitchFamily="34" charset="0"/>
                <a:ea typeface="IBM Plex Sans" pitchFamily="34" charset="-122"/>
                <a:cs typeface="IBM Plex Sans" pitchFamily="34" charset="-120"/>
              </a:rPr>
              <a:t>L’énoncé, le type et les réponses, avec une case « valide » pour chaque bonne réponse.</a:t>
            </a:r>
            <a:endParaRPr lang="en-US" sz="1400" dirty="0"/>
          </a:p>
        </p:txBody>
      </p:sp>
      <p:sp>
        <p:nvSpPr>
          <p:cNvPr id="11" name="Shape 7"/>
          <p:cNvSpPr/>
          <p:nvPr/>
        </p:nvSpPr>
        <p:spPr>
          <a:xfrm>
            <a:off x="815975" y="3107057"/>
            <a:ext cx="5175250" cy="1598930"/>
          </a:xfrm>
          <a:prstGeom prst="roundRect">
            <a:avLst>
              <a:gd name="adj" fmla="val 6156"/>
            </a:avLst>
          </a:prstGeom>
          <a:solidFill>
            <a:srgbClr val="FDFCF8"/>
          </a:solidFill>
          <a:ln w="6350">
            <a:solidFill>
              <a:srgbClr val="D8D4C6"/>
            </a:solidFill>
            <a:prstDash val="solid"/>
          </a:ln>
        </p:spPr>
      </p:sp>
      <p:pic>
        <p:nvPicPr>
          <p:cNvPr id="12" name="Image 2" descr="Play"/>
          <p:cNvPicPr>
            <a:picLocks noChangeAspect="1"/>
          </p:cNvPicPr>
          <p:nvPr/>
        </p:nvPicPr>
        <p:blipFill>
          <a:blip r:embed="rId5"/>
          <a:srcRect/>
          <a:stretch/>
        </p:blipFill>
        <p:spPr>
          <a:xfrm>
            <a:off x="1071880" y="3362961"/>
            <a:ext cx="406400" cy="406400"/>
          </a:xfrm>
          <a:prstGeom prst="rect">
            <a:avLst/>
          </a:prstGeom>
        </p:spPr>
      </p:pic>
      <p:sp>
        <p:nvSpPr>
          <p:cNvPr id="13" name="Text 8"/>
          <p:cNvSpPr/>
          <p:nvPr/>
        </p:nvSpPr>
        <p:spPr>
          <a:xfrm>
            <a:off x="1656080" y="3362961"/>
            <a:ext cx="420161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IBM Plex Sans" pitchFamily="34" charset="0"/>
                <a:ea typeface="IBM Plex Sans" pitchFamily="34" charset="-122"/>
                <a:cs typeface="IBM Plex Sans" pitchFamily="34" charset="-120"/>
              </a:rPr>
              <a:t>Écran de jeu</a:t>
            </a:r>
            <a:endParaRPr lang="en-US" sz="1800" dirty="0"/>
          </a:p>
        </p:txBody>
      </p:sp>
      <p:sp>
        <p:nvSpPr>
          <p:cNvPr id="14" name="Text 9"/>
          <p:cNvSpPr/>
          <p:nvPr/>
        </p:nvSpPr>
        <p:spPr>
          <a:xfrm>
            <a:off x="1656080" y="3713482"/>
            <a:ext cx="420161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4B5B"/>
                </a:solidFill>
                <a:latin typeface="IBM Plex Sans" pitchFamily="34" charset="0"/>
                <a:ea typeface="IBM Plex Sans" pitchFamily="34" charset="-122"/>
                <a:cs typeface="IBM Plex Sans" pitchFamily="34" charset="-120"/>
              </a:rPr>
              <a:t>Comme sur le site : la question, des cases à cocher, « C’est mon dernier mot », puis le résultat.</a:t>
            </a:r>
            <a:endParaRPr lang="en-US" sz="1400" dirty="0"/>
          </a:p>
        </p:txBody>
      </p:sp>
      <p:sp>
        <p:nvSpPr>
          <p:cNvPr id="15" name="Shape 10"/>
          <p:cNvSpPr/>
          <p:nvPr/>
        </p:nvSpPr>
        <p:spPr>
          <a:xfrm>
            <a:off x="6197600" y="3103882"/>
            <a:ext cx="5181600" cy="1605280"/>
          </a:xfrm>
          <a:prstGeom prst="roundRect">
            <a:avLst>
              <a:gd name="adj" fmla="val 6329"/>
            </a:avLst>
          </a:prstGeom>
          <a:solidFill>
            <a:srgbClr val="0F1B2D"/>
          </a:solidFill>
          <a:ln/>
        </p:spPr>
      </p:sp>
      <p:pic>
        <p:nvPicPr>
          <p:cNvPr id="16" name="Image 3" descr="Cloud"/>
          <p:cNvPicPr>
            <a:picLocks noChangeAspect="1"/>
          </p:cNvPicPr>
          <p:nvPr/>
        </p:nvPicPr>
        <p:blipFill>
          <a:blip r:embed="rId6"/>
          <a:srcRect/>
          <a:stretch/>
        </p:blipFill>
        <p:spPr>
          <a:xfrm>
            <a:off x="6451600" y="3357882"/>
            <a:ext cx="406400" cy="406400"/>
          </a:xfrm>
          <a:prstGeom prst="rect">
            <a:avLst/>
          </a:prstGeom>
        </p:spPr>
      </p:pic>
      <p:sp>
        <p:nvSpPr>
          <p:cNvPr id="17" name="Text 11"/>
          <p:cNvSpPr/>
          <p:nvPr/>
        </p:nvSpPr>
        <p:spPr>
          <a:xfrm>
            <a:off x="7035800" y="3357882"/>
            <a:ext cx="421208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6F5F0"/>
                </a:solidFill>
                <a:latin typeface="IBM Plex Sans" pitchFamily="34" charset="0"/>
                <a:ea typeface="IBM Plex Sans" pitchFamily="34" charset="-122"/>
                <a:cs typeface="IBM Plex Sans" pitchFamily="34" charset="-120"/>
              </a:rPr>
              <a:t>Import</a:t>
            </a:r>
            <a:endParaRPr lang="en-US" sz="1800" dirty="0"/>
          </a:p>
        </p:txBody>
      </p:sp>
      <p:sp>
        <p:nvSpPr>
          <p:cNvPr id="18" name="Text 12"/>
          <p:cNvSpPr/>
          <p:nvPr/>
        </p:nvSpPr>
        <p:spPr>
          <a:xfrm>
            <a:off x="7035800" y="3708400"/>
            <a:ext cx="421208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C6D6"/>
                </a:solidFill>
                <a:latin typeface="IBM Plex Sans" pitchFamily="34" charset="0"/>
                <a:ea typeface="IBM Plex Sans" pitchFamily="34" charset="-122"/>
                <a:cs typeface="IBM Plex Sans" pitchFamily="34" charset="-120"/>
              </a:rPr>
              <a:t>On saisit les adresses des autres sites ; leurs questions sont récupérées en JSON et ajoutées à la base.</a:t>
            </a:r>
            <a:endParaRPr lang="en-US" sz="1400" dirty="0"/>
          </a:p>
        </p:txBody>
      </p:sp>
      <p:sp>
        <p:nvSpPr>
          <p:cNvPr id="19" name="Text 13"/>
          <p:cNvSpPr/>
          <p:nvPr/>
        </p:nvSpPr>
        <p:spPr>
          <a:xfrm>
            <a:off x="812800" y="6238239"/>
            <a:ext cx="489899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0"/>
                </a:solidFill>
                <a:latin typeface="IBM Plex Sans" pitchFamily="34" charset="0"/>
                <a:ea typeface="IBM Plex Sans" pitchFamily="34" charset="-122"/>
                <a:cs typeface="IBM Plex Sans" pitchFamily="34" charset="-120"/>
              </a:rPr>
              <a:t>SAÉ 3.02 · Quizz d’hygiène informatique et de cybersécurité</a:t>
            </a:r>
            <a:endParaRPr lang="en-US" sz="1200" dirty="0"/>
          </a:p>
        </p:txBody>
      </p:sp>
      <p:sp>
        <p:nvSpPr>
          <p:cNvPr id="20" name="Text 14"/>
          <p:cNvSpPr/>
          <p:nvPr/>
        </p:nvSpPr>
        <p:spPr>
          <a:xfrm>
            <a:off x="11003344" y="6238239"/>
            <a:ext cx="375857"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670"/>
                </a:solidFill>
                <a:latin typeface="IBM Plex Sans" pitchFamily="34" charset="0"/>
                <a:ea typeface="IBM Plex Sans" pitchFamily="34" charset="-122"/>
                <a:cs typeface="IBM Plex Sans" pitchFamily="34" charset="-120"/>
              </a:rPr>
              <a:t>5 / 7</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1B2D"/>
                </a:solidFill>
                <a:latin typeface="IBM Plex Sans" pitchFamily="34" charset="0"/>
                <a:ea typeface="IBM Plex Sans" pitchFamily="34" charset="-122"/>
                <a:cs typeface="IBM Plex Sans" pitchFamily="34" charset="-120"/>
              </a:rPr>
              <a:t>Squelette Java en UML : les classes de base</a:t>
            </a:r>
            <a:endParaRPr lang="en-US" sz="3200" dirty="0"/>
          </a:p>
        </p:txBody>
      </p:sp>
      <p:pic>
        <p:nvPicPr>
          <p:cNvPr id="3" name="Image 0" descr="connector"/>
          <p:cNvPicPr>
            <a:picLocks noChangeAspect="1"/>
          </p:cNvPicPr>
          <p:nvPr/>
        </p:nvPicPr>
        <p:blipFill>
          <a:blip r:embed="rId3"/>
          <a:srcRect/>
          <a:stretch/>
        </p:blipFill>
        <p:spPr>
          <a:xfrm>
            <a:off x="4241800" y="2207261"/>
            <a:ext cx="762000" cy="101600"/>
          </a:xfrm>
          <a:prstGeom prst="rect">
            <a:avLst/>
          </a:prstGeom>
        </p:spPr>
      </p:pic>
      <p:pic>
        <p:nvPicPr>
          <p:cNvPr id="4" name="Image 1" descr="connector"/>
          <p:cNvPicPr>
            <a:picLocks noChangeAspect="1"/>
          </p:cNvPicPr>
          <p:nvPr/>
        </p:nvPicPr>
        <p:blipFill>
          <a:blip r:embed="rId3"/>
          <a:srcRect/>
          <a:stretch/>
        </p:blipFill>
        <p:spPr>
          <a:xfrm>
            <a:off x="8382000" y="2207261"/>
            <a:ext cx="762000" cy="101600"/>
          </a:xfrm>
          <a:prstGeom prst="rect">
            <a:avLst/>
          </a:prstGeom>
        </p:spPr>
      </p:pic>
      <p:pic>
        <p:nvPicPr>
          <p:cNvPr id="5" name="Image 2" descr="connector"/>
          <p:cNvPicPr>
            <a:picLocks noChangeAspect="1"/>
          </p:cNvPicPr>
          <p:nvPr/>
        </p:nvPicPr>
        <p:blipFill>
          <a:blip r:embed="rId4"/>
          <a:srcRect/>
          <a:stretch/>
        </p:blipFill>
        <p:spPr>
          <a:xfrm>
            <a:off x="2413000" y="3096261"/>
            <a:ext cx="101600" cy="800100"/>
          </a:xfrm>
          <a:prstGeom prst="rect">
            <a:avLst/>
          </a:prstGeom>
        </p:spPr>
      </p:pic>
      <p:pic>
        <p:nvPicPr>
          <p:cNvPr id="6" name="Image 3" descr="connector"/>
          <p:cNvPicPr>
            <a:picLocks noChangeAspect="1"/>
          </p:cNvPicPr>
          <p:nvPr/>
        </p:nvPicPr>
        <p:blipFill>
          <a:blip r:embed="rId5"/>
          <a:srcRect/>
          <a:stretch/>
        </p:blipFill>
        <p:spPr>
          <a:xfrm>
            <a:off x="4064000" y="4271011"/>
            <a:ext cx="939800" cy="101600"/>
          </a:xfrm>
          <a:prstGeom prst="rect">
            <a:avLst/>
          </a:prstGeom>
        </p:spPr>
      </p:pic>
      <p:pic>
        <p:nvPicPr>
          <p:cNvPr id="7" name="Image 4" descr="connector"/>
          <p:cNvPicPr>
            <a:picLocks noChangeAspect="1"/>
          </p:cNvPicPr>
          <p:nvPr/>
        </p:nvPicPr>
        <p:blipFill>
          <a:blip r:embed="rId6"/>
          <a:srcRect/>
          <a:stretch/>
        </p:blipFill>
        <p:spPr>
          <a:xfrm>
            <a:off x="6553200" y="3286761"/>
            <a:ext cx="101600" cy="609600"/>
          </a:xfrm>
          <a:prstGeom prst="rect">
            <a:avLst/>
          </a:prstGeom>
        </p:spPr>
      </p:pic>
      <p:pic>
        <p:nvPicPr>
          <p:cNvPr id="8" name="Image 5" descr="diamond"/>
          <p:cNvPicPr>
            <a:picLocks noChangeAspect="1"/>
          </p:cNvPicPr>
          <p:nvPr/>
        </p:nvPicPr>
        <p:blipFill>
          <a:blip r:embed="rId7"/>
          <a:srcRect/>
          <a:stretch/>
        </p:blipFill>
        <p:spPr>
          <a:xfrm>
            <a:off x="4114800" y="2169161"/>
            <a:ext cx="177800" cy="177800"/>
          </a:xfrm>
          <a:prstGeom prst="rect">
            <a:avLst/>
          </a:prstGeom>
        </p:spPr>
      </p:pic>
      <p:pic>
        <p:nvPicPr>
          <p:cNvPr id="9" name="Image 6" descr="diamond"/>
          <p:cNvPicPr>
            <a:picLocks noChangeAspect="1"/>
          </p:cNvPicPr>
          <p:nvPr/>
        </p:nvPicPr>
        <p:blipFill>
          <a:blip r:embed="rId7"/>
          <a:srcRect/>
          <a:stretch/>
        </p:blipFill>
        <p:spPr>
          <a:xfrm>
            <a:off x="8255000" y="2169161"/>
            <a:ext cx="177800" cy="177800"/>
          </a:xfrm>
          <a:prstGeom prst="rect">
            <a:avLst/>
          </a:prstGeom>
        </p:spPr>
      </p:pic>
      <p:sp>
        <p:nvSpPr>
          <p:cNvPr id="10" name="Shape 1"/>
          <p:cNvSpPr/>
          <p:nvPr/>
        </p:nvSpPr>
        <p:spPr>
          <a:xfrm>
            <a:off x="819150" y="1438911"/>
            <a:ext cx="3289300" cy="1701800"/>
          </a:xfrm>
          <a:prstGeom prst="rect">
            <a:avLst/>
          </a:prstGeom>
          <a:solidFill>
            <a:srgbClr val="FDFCF8"/>
          </a:solidFill>
          <a:ln w="12700">
            <a:solidFill>
              <a:srgbClr val="0F1B2D"/>
            </a:solidFill>
            <a:prstDash val="solid"/>
          </a:ln>
        </p:spPr>
      </p:sp>
      <p:sp>
        <p:nvSpPr>
          <p:cNvPr id="11" name="Text 2"/>
          <p:cNvSpPr/>
          <p:nvPr/>
        </p:nvSpPr>
        <p:spPr>
          <a:xfrm>
            <a:off x="822960" y="1442721"/>
            <a:ext cx="3281680" cy="406400"/>
          </a:xfrm>
          <a:prstGeom prst="rect">
            <a:avLst/>
          </a:prstGeom>
          <a:solidFill>
            <a:srgbClr val="0F1B2D"/>
          </a:solidFill>
          <a:ln/>
        </p:spPr>
        <p:txBody>
          <a:bodyPr wrap="square" lIns="42342" tIns="88900" rIns="42342" bIns="63500" rtlCol="0" anchor="t">
            <a:normAutofit/>
          </a:bodyPr>
          <a:lstStyle/>
          <a:p>
            <a:pPr marL="0" indent="0" algn="ctr">
              <a:lnSpc>
                <a:spcPts val="1800"/>
              </a:lnSpc>
              <a:buNone/>
            </a:pPr>
            <a:r>
              <a:rPr lang="en-US" sz="1500" b="1" dirty="0">
                <a:solidFill>
                  <a:srgbClr val="F6F5F0"/>
                </a:solidFill>
                <a:latin typeface="IBM Plex Sans" pitchFamily="34" charset="0"/>
                <a:ea typeface="IBM Plex Sans" pitchFamily="34" charset="-122"/>
                <a:cs typeface="IBM Plex Sans" pitchFamily="34" charset="-120"/>
              </a:rPr>
              <a:t>Quizz</a:t>
            </a:r>
            <a:endParaRPr lang="en-US" sz="1500" dirty="0"/>
          </a:p>
        </p:txBody>
      </p:sp>
      <p:sp>
        <p:nvSpPr>
          <p:cNvPr id="12" name="Text 3"/>
          <p:cNvSpPr/>
          <p:nvPr/>
        </p:nvSpPr>
        <p:spPr>
          <a:xfrm>
            <a:off x="949960" y="1899921"/>
            <a:ext cx="3118510" cy="430689"/>
          </a:xfrm>
          <a:prstGeom prst="rect">
            <a:avLst/>
          </a:prstGeom>
          <a:noFill/>
          <a:ln/>
        </p:spPr>
        <p:txBody>
          <a:bodyPr wrap="square" lIns="0" tIns="0" rIns="0" bIns="0" rtlCol="0" anchor="t">
            <a:normAutofit/>
          </a:bodyPr>
          <a:lstStyle/>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questions : List&lt;Question&gt;</a:t>
            </a:r>
            <a:endParaRPr lang="en-US" sz="1200" dirty="0"/>
          </a:p>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score : int</a:t>
            </a:r>
            <a:endParaRPr lang="en-US" sz="1200" dirty="0"/>
          </a:p>
        </p:txBody>
      </p:sp>
      <p:sp>
        <p:nvSpPr>
          <p:cNvPr id="13" name="Shape 4"/>
          <p:cNvSpPr/>
          <p:nvPr/>
        </p:nvSpPr>
        <p:spPr>
          <a:xfrm>
            <a:off x="822960" y="2362358"/>
            <a:ext cx="3281680" cy="0"/>
          </a:xfrm>
          <a:prstGeom prst="line">
            <a:avLst/>
          </a:prstGeom>
          <a:noFill/>
          <a:ln w="12700">
            <a:solidFill>
              <a:srgbClr val="0F1B2D"/>
            </a:solidFill>
            <a:prstDash val="solid"/>
          </a:ln>
        </p:spPr>
      </p:sp>
      <p:sp>
        <p:nvSpPr>
          <p:cNvPr id="14" name="Text 5"/>
          <p:cNvSpPr/>
          <p:nvPr/>
        </p:nvSpPr>
        <p:spPr>
          <a:xfrm>
            <a:off x="949960" y="2416968"/>
            <a:ext cx="3118510" cy="633333"/>
          </a:xfrm>
          <a:prstGeom prst="rect">
            <a:avLst/>
          </a:prstGeom>
          <a:noFill/>
          <a:ln/>
        </p:spPr>
        <p:txBody>
          <a:bodyPr wrap="square" lIns="0" tIns="0" rIns="0" bIns="0" rtlCol="0" anchor="t">
            <a:normAutofit/>
          </a:bodyPr>
          <a:lstStyle/>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ajouterQuestion(q : Question)</a:t>
            </a:r>
            <a:endParaRPr lang="en-US" sz="1200" dirty="0"/>
          </a:p>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repondre(choix) : boolean</a:t>
            </a:r>
            <a:endParaRPr lang="en-US" sz="1200" dirty="0"/>
          </a:p>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getScore() : int</a:t>
            </a:r>
            <a:endParaRPr lang="en-US" sz="1200" dirty="0"/>
          </a:p>
        </p:txBody>
      </p:sp>
      <p:sp>
        <p:nvSpPr>
          <p:cNvPr id="15" name="Shape 6"/>
          <p:cNvSpPr/>
          <p:nvPr/>
        </p:nvSpPr>
        <p:spPr>
          <a:xfrm>
            <a:off x="4959350" y="1438911"/>
            <a:ext cx="3289300" cy="1892300"/>
          </a:xfrm>
          <a:prstGeom prst="rect">
            <a:avLst/>
          </a:prstGeom>
          <a:solidFill>
            <a:srgbClr val="FDFCF8"/>
          </a:solidFill>
          <a:ln w="12700">
            <a:solidFill>
              <a:srgbClr val="0F1B2D"/>
            </a:solidFill>
            <a:prstDash val="solid"/>
          </a:ln>
        </p:spPr>
      </p:sp>
      <p:sp>
        <p:nvSpPr>
          <p:cNvPr id="16" name="Text 7"/>
          <p:cNvSpPr/>
          <p:nvPr/>
        </p:nvSpPr>
        <p:spPr>
          <a:xfrm>
            <a:off x="4963160" y="1442721"/>
            <a:ext cx="3281680" cy="406400"/>
          </a:xfrm>
          <a:prstGeom prst="rect">
            <a:avLst/>
          </a:prstGeom>
          <a:solidFill>
            <a:srgbClr val="0F1B2D"/>
          </a:solidFill>
          <a:ln/>
        </p:spPr>
        <p:txBody>
          <a:bodyPr wrap="square" lIns="42342" tIns="88900" rIns="42342" bIns="63500" rtlCol="0" anchor="t">
            <a:normAutofit/>
          </a:bodyPr>
          <a:lstStyle/>
          <a:p>
            <a:pPr marL="0" indent="0" algn="ctr">
              <a:lnSpc>
                <a:spcPts val="1800"/>
              </a:lnSpc>
              <a:buNone/>
            </a:pPr>
            <a:r>
              <a:rPr lang="en-US" sz="1500" b="1" dirty="0">
                <a:solidFill>
                  <a:srgbClr val="F6F5F0"/>
                </a:solidFill>
                <a:latin typeface="IBM Plex Sans" pitchFamily="34" charset="0"/>
                <a:ea typeface="IBM Plex Sans" pitchFamily="34" charset="-122"/>
                <a:cs typeface="IBM Plex Sans" pitchFamily="34" charset="-120"/>
              </a:rPr>
              <a:t>Question</a:t>
            </a:r>
            <a:endParaRPr lang="en-US" sz="1500" dirty="0"/>
          </a:p>
        </p:txBody>
      </p:sp>
      <p:sp>
        <p:nvSpPr>
          <p:cNvPr id="17" name="Text 8"/>
          <p:cNvSpPr/>
          <p:nvPr/>
        </p:nvSpPr>
        <p:spPr>
          <a:xfrm>
            <a:off x="5090160" y="1899921"/>
            <a:ext cx="3118510" cy="835978"/>
          </a:xfrm>
          <a:prstGeom prst="rect">
            <a:avLst/>
          </a:prstGeom>
          <a:noFill/>
          <a:ln/>
        </p:spPr>
        <p:txBody>
          <a:bodyPr wrap="square" lIns="0" tIns="0" rIns="0" bIns="0" rtlCol="0" anchor="t">
            <a:normAutofit/>
          </a:bodyPr>
          <a:lstStyle/>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id : int</a:t>
            </a:r>
            <a:endParaRPr lang="en-US" sz="1200" dirty="0"/>
          </a:p>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enonce : String</a:t>
            </a:r>
            <a:endParaRPr lang="en-US" sz="1200" dirty="0"/>
          </a:p>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type : String</a:t>
            </a:r>
            <a:endParaRPr lang="en-US" sz="1200" dirty="0"/>
          </a:p>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reponses : List&lt;Reponse&gt;</a:t>
            </a:r>
            <a:endParaRPr lang="en-US" sz="1200" dirty="0"/>
          </a:p>
        </p:txBody>
      </p:sp>
      <p:sp>
        <p:nvSpPr>
          <p:cNvPr id="18" name="Shape 9"/>
          <p:cNvSpPr/>
          <p:nvPr/>
        </p:nvSpPr>
        <p:spPr>
          <a:xfrm>
            <a:off x="4963160" y="2767648"/>
            <a:ext cx="3281680" cy="0"/>
          </a:xfrm>
          <a:prstGeom prst="line">
            <a:avLst/>
          </a:prstGeom>
          <a:noFill/>
          <a:ln w="12700">
            <a:solidFill>
              <a:srgbClr val="0F1B2D"/>
            </a:solidFill>
            <a:prstDash val="solid"/>
          </a:ln>
        </p:spPr>
      </p:sp>
      <p:sp>
        <p:nvSpPr>
          <p:cNvPr id="19" name="Text 10"/>
          <p:cNvSpPr/>
          <p:nvPr/>
        </p:nvSpPr>
        <p:spPr>
          <a:xfrm>
            <a:off x="5090160" y="2822258"/>
            <a:ext cx="3118510" cy="430689"/>
          </a:xfrm>
          <a:prstGeom prst="rect">
            <a:avLst/>
          </a:prstGeom>
          <a:noFill/>
          <a:ln/>
        </p:spPr>
        <p:txBody>
          <a:bodyPr wrap="square" lIns="0" tIns="0" rIns="0" bIns="0" rtlCol="0" anchor="t">
            <a:normAutofit/>
          </a:bodyPr>
          <a:lstStyle/>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ajouterReponse(r : Reponse)</a:t>
            </a:r>
            <a:endParaRPr lang="en-US" sz="1200" dirty="0"/>
          </a:p>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verifier(choix) : boolean</a:t>
            </a:r>
            <a:endParaRPr lang="en-US" sz="1200" dirty="0"/>
          </a:p>
        </p:txBody>
      </p:sp>
      <p:sp>
        <p:nvSpPr>
          <p:cNvPr id="20" name="Shape 11"/>
          <p:cNvSpPr/>
          <p:nvPr/>
        </p:nvSpPr>
        <p:spPr>
          <a:xfrm>
            <a:off x="9099550" y="1438911"/>
            <a:ext cx="2273300" cy="1437957"/>
          </a:xfrm>
          <a:prstGeom prst="rect">
            <a:avLst/>
          </a:prstGeom>
          <a:solidFill>
            <a:srgbClr val="FDFCF8"/>
          </a:solidFill>
          <a:ln w="12700">
            <a:solidFill>
              <a:srgbClr val="0F1B2D"/>
            </a:solidFill>
            <a:prstDash val="solid"/>
          </a:ln>
        </p:spPr>
      </p:sp>
      <p:sp>
        <p:nvSpPr>
          <p:cNvPr id="21" name="Text 12"/>
          <p:cNvSpPr/>
          <p:nvPr/>
        </p:nvSpPr>
        <p:spPr>
          <a:xfrm>
            <a:off x="9103360" y="1442721"/>
            <a:ext cx="2265680" cy="406400"/>
          </a:xfrm>
          <a:prstGeom prst="rect">
            <a:avLst/>
          </a:prstGeom>
          <a:solidFill>
            <a:srgbClr val="0F1B2D"/>
          </a:solidFill>
          <a:ln/>
        </p:spPr>
        <p:txBody>
          <a:bodyPr wrap="square" lIns="57582" tIns="88900" rIns="57582" bIns="63500" rtlCol="0" anchor="t">
            <a:normAutofit/>
          </a:bodyPr>
          <a:lstStyle/>
          <a:p>
            <a:pPr marL="0" indent="0" algn="ctr">
              <a:lnSpc>
                <a:spcPts val="1800"/>
              </a:lnSpc>
              <a:buNone/>
            </a:pPr>
            <a:r>
              <a:rPr lang="en-US" sz="1500" b="1" dirty="0">
                <a:solidFill>
                  <a:srgbClr val="F6F5F0"/>
                </a:solidFill>
                <a:latin typeface="IBM Plex Sans" pitchFamily="34" charset="0"/>
                <a:ea typeface="IBM Plex Sans" pitchFamily="34" charset="-122"/>
                <a:cs typeface="IBM Plex Sans" pitchFamily="34" charset="-120"/>
              </a:rPr>
              <a:t>Reponse</a:t>
            </a:r>
            <a:endParaRPr lang="en-US" sz="1500" dirty="0"/>
          </a:p>
        </p:txBody>
      </p:sp>
      <p:sp>
        <p:nvSpPr>
          <p:cNvPr id="22" name="Text 13"/>
          <p:cNvSpPr/>
          <p:nvPr/>
        </p:nvSpPr>
        <p:spPr>
          <a:xfrm>
            <a:off x="9230360" y="1899921"/>
            <a:ext cx="2072031" cy="430689"/>
          </a:xfrm>
          <a:prstGeom prst="rect">
            <a:avLst/>
          </a:prstGeom>
          <a:noFill/>
          <a:ln/>
        </p:spPr>
        <p:txBody>
          <a:bodyPr wrap="square" lIns="0" tIns="0" rIns="0" bIns="0" rtlCol="0" anchor="t">
            <a:normAutofit/>
          </a:bodyPr>
          <a:lstStyle/>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contenu : String</a:t>
            </a:r>
            <a:endParaRPr lang="en-US" sz="1200" dirty="0"/>
          </a:p>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valide : boolean</a:t>
            </a:r>
            <a:endParaRPr lang="en-US" sz="1200" dirty="0"/>
          </a:p>
        </p:txBody>
      </p:sp>
      <p:sp>
        <p:nvSpPr>
          <p:cNvPr id="23" name="Shape 14"/>
          <p:cNvSpPr/>
          <p:nvPr/>
        </p:nvSpPr>
        <p:spPr>
          <a:xfrm>
            <a:off x="9103360" y="2362358"/>
            <a:ext cx="2265680" cy="0"/>
          </a:xfrm>
          <a:prstGeom prst="line">
            <a:avLst/>
          </a:prstGeom>
          <a:noFill/>
          <a:ln w="12700">
            <a:solidFill>
              <a:srgbClr val="0F1B2D"/>
            </a:solidFill>
            <a:prstDash val="solid"/>
          </a:ln>
        </p:spPr>
      </p:sp>
      <p:sp>
        <p:nvSpPr>
          <p:cNvPr id="24" name="Text 15"/>
          <p:cNvSpPr/>
          <p:nvPr/>
        </p:nvSpPr>
        <p:spPr>
          <a:xfrm>
            <a:off x="9230360" y="2416968"/>
            <a:ext cx="2072031" cy="430689"/>
          </a:xfrm>
          <a:prstGeom prst="rect">
            <a:avLst/>
          </a:prstGeom>
          <a:noFill/>
          <a:ln/>
        </p:spPr>
        <p:txBody>
          <a:bodyPr wrap="square" lIns="0" tIns="0" rIns="0" bIns="0" rtlCol="0" anchor="t">
            <a:normAutofit/>
          </a:bodyPr>
          <a:lstStyle/>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getContenu() : String</a:t>
            </a:r>
            <a:endParaRPr lang="en-US" sz="1200" dirty="0"/>
          </a:p>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isValide() : boolean</a:t>
            </a:r>
            <a:endParaRPr lang="en-US" sz="1200" dirty="0"/>
          </a:p>
        </p:txBody>
      </p:sp>
      <p:sp>
        <p:nvSpPr>
          <p:cNvPr id="25" name="Shape 16"/>
          <p:cNvSpPr/>
          <p:nvPr/>
        </p:nvSpPr>
        <p:spPr>
          <a:xfrm>
            <a:off x="819150" y="3851911"/>
            <a:ext cx="3289300" cy="939800"/>
          </a:xfrm>
          <a:prstGeom prst="rect">
            <a:avLst/>
          </a:prstGeom>
          <a:solidFill>
            <a:srgbClr val="FDFCF8"/>
          </a:solidFill>
          <a:ln w="12700">
            <a:solidFill>
              <a:srgbClr val="0F1B2D"/>
            </a:solidFill>
            <a:prstDash val="solid"/>
          </a:ln>
        </p:spPr>
      </p:sp>
      <p:sp>
        <p:nvSpPr>
          <p:cNvPr id="26" name="Text 17"/>
          <p:cNvSpPr/>
          <p:nvPr/>
        </p:nvSpPr>
        <p:spPr>
          <a:xfrm>
            <a:off x="822960" y="3855721"/>
            <a:ext cx="3281680" cy="406400"/>
          </a:xfrm>
          <a:prstGeom prst="rect">
            <a:avLst/>
          </a:prstGeom>
          <a:solidFill>
            <a:srgbClr val="0F1B2D"/>
          </a:solidFill>
          <a:ln/>
        </p:spPr>
        <p:txBody>
          <a:bodyPr wrap="square" lIns="42342" tIns="88900" rIns="42342" bIns="63500" rtlCol="0" anchor="t">
            <a:normAutofit/>
          </a:bodyPr>
          <a:lstStyle/>
          <a:p>
            <a:pPr marL="0" indent="0" algn="ctr">
              <a:lnSpc>
                <a:spcPts val="1800"/>
              </a:lnSpc>
              <a:buNone/>
            </a:pPr>
            <a:r>
              <a:rPr lang="en-US" sz="1500" b="1" dirty="0">
                <a:solidFill>
                  <a:srgbClr val="F6F5F0"/>
                </a:solidFill>
                <a:latin typeface="IBM Plex Sans" pitchFamily="34" charset="0"/>
                <a:ea typeface="IBM Plex Sans" pitchFamily="34" charset="-122"/>
                <a:cs typeface="IBM Plex Sans" pitchFamily="34" charset="-120"/>
              </a:rPr>
              <a:t>ImportJSON</a:t>
            </a:r>
            <a:endParaRPr lang="en-US" sz="1500" dirty="0"/>
          </a:p>
        </p:txBody>
      </p:sp>
      <p:sp>
        <p:nvSpPr>
          <p:cNvPr id="27" name="Shape 18"/>
          <p:cNvSpPr/>
          <p:nvPr/>
        </p:nvSpPr>
        <p:spPr>
          <a:xfrm>
            <a:off x="822960" y="4268471"/>
            <a:ext cx="3281680" cy="0"/>
          </a:xfrm>
          <a:prstGeom prst="line">
            <a:avLst/>
          </a:prstGeom>
          <a:noFill/>
          <a:ln w="12700">
            <a:solidFill>
              <a:srgbClr val="0F1B2D"/>
            </a:solidFill>
            <a:prstDash val="solid"/>
          </a:ln>
        </p:spPr>
      </p:sp>
      <p:sp>
        <p:nvSpPr>
          <p:cNvPr id="28" name="Text 19"/>
          <p:cNvSpPr/>
          <p:nvPr/>
        </p:nvSpPr>
        <p:spPr>
          <a:xfrm>
            <a:off x="949960" y="4323081"/>
            <a:ext cx="3118510" cy="430689"/>
          </a:xfrm>
          <a:prstGeom prst="rect">
            <a:avLst/>
          </a:prstGeom>
          <a:noFill/>
          <a:ln/>
        </p:spPr>
        <p:txBody>
          <a:bodyPr wrap="square" lIns="0" tIns="0" rIns="0" bIns="0" rtlCol="0" anchor="t">
            <a:normAutofit/>
          </a:bodyPr>
          <a:lstStyle/>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exporter(quizz : Quizz) : String</a:t>
            </a:r>
            <a:endParaRPr lang="en-US" sz="1200" dirty="0"/>
          </a:p>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importer(adresse : String) : Quizz</a:t>
            </a:r>
            <a:endParaRPr lang="en-US" sz="1200" dirty="0"/>
          </a:p>
        </p:txBody>
      </p:sp>
      <p:sp>
        <p:nvSpPr>
          <p:cNvPr id="29" name="Shape 20"/>
          <p:cNvSpPr/>
          <p:nvPr/>
        </p:nvSpPr>
        <p:spPr>
          <a:xfrm>
            <a:off x="4959350" y="3851911"/>
            <a:ext cx="3289300" cy="1640602"/>
          </a:xfrm>
          <a:prstGeom prst="rect">
            <a:avLst/>
          </a:prstGeom>
          <a:solidFill>
            <a:srgbClr val="FDFCF8"/>
          </a:solidFill>
          <a:ln w="12700">
            <a:solidFill>
              <a:srgbClr val="0F1B2D"/>
            </a:solidFill>
            <a:prstDash val="solid"/>
          </a:ln>
        </p:spPr>
      </p:sp>
      <p:sp>
        <p:nvSpPr>
          <p:cNvPr id="30" name="Text 21"/>
          <p:cNvSpPr/>
          <p:nvPr/>
        </p:nvSpPr>
        <p:spPr>
          <a:xfrm>
            <a:off x="4963160" y="3855721"/>
            <a:ext cx="3281680" cy="406400"/>
          </a:xfrm>
          <a:prstGeom prst="rect">
            <a:avLst/>
          </a:prstGeom>
          <a:solidFill>
            <a:srgbClr val="0F1B2D"/>
          </a:solidFill>
          <a:ln/>
        </p:spPr>
        <p:txBody>
          <a:bodyPr wrap="square" lIns="42342" tIns="88900" rIns="42342" bIns="63500" rtlCol="0" anchor="t">
            <a:normAutofit/>
          </a:bodyPr>
          <a:lstStyle/>
          <a:p>
            <a:pPr marL="0" indent="0" algn="ctr">
              <a:lnSpc>
                <a:spcPts val="1800"/>
              </a:lnSpc>
              <a:buNone/>
            </a:pPr>
            <a:r>
              <a:rPr lang="en-US" sz="1500" b="1" dirty="0">
                <a:solidFill>
                  <a:srgbClr val="F6F5F0"/>
                </a:solidFill>
                <a:latin typeface="IBM Plex Sans" pitchFamily="34" charset="0"/>
                <a:ea typeface="IBM Plex Sans" pitchFamily="34" charset="-122"/>
                <a:cs typeface="IBM Plex Sans" pitchFamily="34" charset="-120"/>
              </a:rPr>
              <a:t>BaseQuestions</a:t>
            </a:r>
            <a:endParaRPr lang="en-US" sz="1500" dirty="0"/>
          </a:p>
        </p:txBody>
      </p:sp>
      <p:sp>
        <p:nvSpPr>
          <p:cNvPr id="31" name="Text 22"/>
          <p:cNvSpPr/>
          <p:nvPr/>
        </p:nvSpPr>
        <p:spPr>
          <a:xfrm>
            <a:off x="5090160" y="4312921"/>
            <a:ext cx="3118510" cy="228044"/>
          </a:xfrm>
          <a:prstGeom prst="rect">
            <a:avLst/>
          </a:prstGeom>
          <a:noFill/>
          <a:ln/>
        </p:spPr>
        <p:txBody>
          <a:bodyPr wrap="square" lIns="0" tIns="0" rIns="0" bIns="0" rtlCol="0" anchor="t">
            <a:normAutofit/>
          </a:bodyPr>
          <a:lstStyle/>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url : String</a:t>
            </a:r>
            <a:endParaRPr lang="en-US" sz="1200" dirty="0"/>
          </a:p>
        </p:txBody>
      </p:sp>
      <p:sp>
        <p:nvSpPr>
          <p:cNvPr id="32" name="Shape 23"/>
          <p:cNvSpPr/>
          <p:nvPr/>
        </p:nvSpPr>
        <p:spPr>
          <a:xfrm>
            <a:off x="4963160" y="4572716"/>
            <a:ext cx="3281680" cy="0"/>
          </a:xfrm>
          <a:prstGeom prst="line">
            <a:avLst/>
          </a:prstGeom>
          <a:noFill/>
          <a:ln w="12700">
            <a:solidFill>
              <a:srgbClr val="0F1B2D"/>
            </a:solidFill>
            <a:prstDash val="solid"/>
          </a:ln>
        </p:spPr>
      </p:sp>
      <p:sp>
        <p:nvSpPr>
          <p:cNvPr id="33" name="Text 24"/>
          <p:cNvSpPr/>
          <p:nvPr/>
        </p:nvSpPr>
        <p:spPr>
          <a:xfrm>
            <a:off x="5090160" y="4627326"/>
            <a:ext cx="3118510" cy="835978"/>
          </a:xfrm>
          <a:prstGeom prst="rect">
            <a:avLst/>
          </a:prstGeom>
          <a:noFill/>
          <a:ln/>
        </p:spPr>
        <p:txBody>
          <a:bodyPr wrap="square" lIns="0" tIns="0" rIns="0" bIns="0" rtlCol="0" anchor="t">
            <a:normAutofit/>
          </a:bodyPr>
          <a:lstStyle/>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creer(q : Question)</a:t>
            </a:r>
            <a:endParaRPr lang="en-US" sz="1200" dirty="0"/>
          </a:p>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lireToutes() : List&lt;Question&gt;</a:t>
            </a:r>
            <a:endParaRPr lang="en-US" sz="1200" dirty="0"/>
          </a:p>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modifier(q : Question)</a:t>
            </a:r>
            <a:endParaRPr lang="en-US" sz="1200" dirty="0"/>
          </a:p>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supprimer(id : int)</a:t>
            </a:r>
            <a:endParaRPr lang="en-US" sz="1200" dirty="0"/>
          </a:p>
        </p:txBody>
      </p:sp>
      <p:sp>
        <p:nvSpPr>
          <p:cNvPr id="38" name="Text 29"/>
          <p:cNvSpPr/>
          <p:nvPr/>
        </p:nvSpPr>
        <p:spPr>
          <a:xfrm>
            <a:off x="8712200" y="3845561"/>
            <a:ext cx="2747010" cy="87884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4B5B"/>
                </a:solidFill>
                <a:latin typeface="IBM Plex Sans" pitchFamily="34" charset="0"/>
                <a:ea typeface="IBM Plex Sans" pitchFamily="34" charset="-122"/>
                <a:cs typeface="IBM Plex Sans" pitchFamily="34" charset="-120"/>
              </a:rPr>
              <a:t>Flèche pointillée : « utilise ». Losange : un quizz contient des questions, une question possède ses réponses. Getters et setters non représentés.</a:t>
            </a:r>
            <a:endParaRPr lang="en-US" sz="1200" dirty="0"/>
          </a:p>
        </p:txBody>
      </p:sp>
      <p:sp>
        <p:nvSpPr>
          <p:cNvPr id="39" name="Text 30"/>
          <p:cNvSpPr/>
          <p:nvPr/>
        </p:nvSpPr>
        <p:spPr>
          <a:xfrm>
            <a:off x="812800" y="6238239"/>
            <a:ext cx="489899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0"/>
                </a:solidFill>
                <a:latin typeface="IBM Plex Sans" pitchFamily="34" charset="0"/>
                <a:ea typeface="IBM Plex Sans" pitchFamily="34" charset="-122"/>
                <a:cs typeface="IBM Plex Sans" pitchFamily="34" charset="-120"/>
              </a:rPr>
              <a:t>SAÉ 3.02 · Quizz d’hygiène informatique et de cybersécurité</a:t>
            </a:r>
            <a:endParaRPr lang="en-US" sz="1200" dirty="0"/>
          </a:p>
        </p:txBody>
      </p:sp>
      <p:sp>
        <p:nvSpPr>
          <p:cNvPr id="40" name="Text 31"/>
          <p:cNvSpPr/>
          <p:nvPr/>
        </p:nvSpPr>
        <p:spPr>
          <a:xfrm>
            <a:off x="11003344" y="6238239"/>
            <a:ext cx="375857"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670"/>
                </a:solidFill>
                <a:latin typeface="IBM Plex Sans" pitchFamily="34" charset="0"/>
                <a:ea typeface="IBM Plex Sans" pitchFamily="34" charset="-122"/>
                <a:cs typeface="IBM Plex Sans" pitchFamily="34" charset="-120"/>
              </a:rPr>
              <a:t>6 / 7</a:t>
            </a:r>
            <a:endParaRPr lang="en-US" sz="1200" dirty="0"/>
          </a:p>
        </p:txBody>
      </p:sp>
    </p:spTree>
  </p:cSld>
  <p:clrMapOvr>
    <a:masterClrMapping/>
  </p:clrMapOvr>
</p:sld>
</file>

<file path=ppt/theme/theme1.xml><?xml version="1.0" encoding="utf-8"?>
<a:theme xmlns:a="http://schemas.openxmlformats.org/drawingml/2006/main" name="SAÉ 3.02 – Présentation du projet">
  <a:themeElements>
    <a:clrScheme name="SAÉ 3.02 – Présentation du projet">
      <a:dk1>
        <a:srgbClr val="0F1B2D"/>
      </a:dk1>
      <a:lt1>
        <a:srgbClr val="F6F5F0"/>
      </a:lt1>
      <a:dk2>
        <a:srgbClr val="49525E"/>
      </a:dk2>
      <a:lt2>
        <a:srgbClr val="DFDFDD"/>
      </a:lt2>
      <a:accent1>
        <a:srgbClr val="4FD6C4"/>
      </a:accent1>
      <a:accent2>
        <a:srgbClr val="8FA1B7"/>
      </a:accent2>
      <a:accent3>
        <a:srgbClr val="0B7A6F"/>
      </a:accent3>
      <a:accent4>
        <a:srgbClr val="0B5F56"/>
      </a:accent4>
      <a:accent5>
        <a:srgbClr val="3F4B5B"/>
      </a:accent5>
      <a:accent6>
        <a:srgbClr val="5C6670"/>
      </a:accent6>
      <a:hlink>
        <a:srgbClr val="0563C1"/>
      </a:hlink>
      <a:folHlink>
        <a:srgbClr val="954F72"/>
      </a:folHlink>
    </a:clrScheme>
    <a:fontScheme name="SAÉ 3.02 – Présentation du projet">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1007</Words>
  <Application>Microsoft Office PowerPoint</Application>
  <PresentationFormat>Widescreen</PresentationFormat>
  <Paragraphs>103</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IBM Plex Sans</vt:lpstr>
      <vt:lpstr>JetBrains Mono</vt:lpstr>
      <vt:lpstr>SAÉ 3.02 – Présentation du projet</vt:lpstr>
      <vt:lpstr>Quizz d’hygiène informatique et de cybersécurité</vt:lpstr>
      <vt:lpstr>Ce que nous avons compris du sujet</vt:lpstr>
      <vt:lpstr>Comment les trois parties communiquent</vt:lpstr>
      <vt:lpstr>Sur le site web : le parcours du joueur</vt:lpstr>
      <vt:lpstr>Dans l’application Java : quatre écrans</vt:lpstr>
      <vt:lpstr>Squelette Java en UML : les classes de base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SAÉ 3.02 – Présentation du projet</dc:title>
  <dc:subject/>
  <dc:creator/>
  <cp:lastModifiedBy>Ainul Malik</cp:lastModifiedBy>
  <cp:revision>2</cp:revision>
  <dcterms:created xsi:type="dcterms:W3CDTF">2026-10-16T06:10:45Z</dcterms:created>
  <dcterms:modified xsi:type="dcterms:W3CDTF">2026-10-16T06:15:24Z</dcterms:modified>
</cp:coreProperties>
</file>